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Testo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Titolo Testo</a:t>
            </a:r>
          </a:p>
        </p:txBody>
      </p:sp>
      <p:sp>
        <p:nvSpPr>
          <p:cNvPr id="3" name="Corpo livello uno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" name="Numero diapositiva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256031" y="292608"/>
            <a:ext cx="1234442" cy="274321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256031" y="366268"/>
            <a:ext cx="12344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2026 EDITION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256031" y="745370"/>
            <a:ext cx="6400801" cy="740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Network Security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256031" y="1513466"/>
            <a:ext cx="6400801" cy="740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200">
                <a:solidFill>
                  <a:srgbClr val="00BC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Laboratory</a:t>
            </a:r>
          </a:p>
        </p:txBody>
      </p:sp>
      <p:sp>
        <p:nvSpPr>
          <p:cNvPr id="25" name="Shape 5"/>
          <p:cNvSpPr/>
          <p:nvPr/>
        </p:nvSpPr>
        <p:spPr>
          <a:xfrm>
            <a:off x="256031" y="2395727"/>
            <a:ext cx="8686801" cy="41149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256031" y="2618161"/>
            <a:ext cx="86868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Lab 03  ·  Asymmetric Cryptography &amp; TLS</a:t>
            </a:r>
          </a:p>
        </p:txBody>
      </p:sp>
      <p:sp>
        <p:nvSpPr>
          <p:cNvPr id="27" name="Shape 7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A1523"/>
          </a:solidFill>
          <a:ln w="12700">
            <a:solidFill>
              <a:srgbClr val="0A152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8"/>
          <p:cNvSpPr txBox="1"/>
          <p:nvPr/>
        </p:nvSpPr>
        <p:spPr>
          <a:xfrm>
            <a:off x="182879" y="4938268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8909C"/>
                </a:solidFill>
              </a:defRPr>
            </a:lvl1pPr>
          </a:lstStyle>
          <a:p>
            <a:pPr/>
            <a:r>
              <a:t>University of Calabria  ·  DeMaCS  ·  A.Y. 2025/2026</a:t>
            </a:r>
          </a:p>
        </p:txBody>
      </p:sp>
      <p:sp>
        <p:nvSpPr>
          <p:cNvPr id="29" name="Shape 9"/>
          <p:cNvSpPr/>
          <p:nvPr/>
        </p:nvSpPr>
        <p:spPr>
          <a:xfrm>
            <a:off x="7132319" y="164592"/>
            <a:ext cx="1691641" cy="1417320"/>
          </a:xfrm>
          <a:prstGeom prst="rect">
            <a:avLst/>
          </a:prstGeom>
          <a:solidFill>
            <a:srgbClr val="00BCD4">
              <a:alpha val="20000"/>
            </a:srgbClr>
          </a:solidFill>
          <a:ln w="1905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Shape 10"/>
          <p:cNvSpPr/>
          <p:nvPr/>
        </p:nvSpPr>
        <p:spPr>
          <a:xfrm>
            <a:off x="7635240" y="1170432"/>
            <a:ext cx="1371601" cy="1143001"/>
          </a:xfrm>
          <a:prstGeom prst="rect">
            <a:avLst/>
          </a:prstGeom>
          <a:solidFill>
            <a:srgbClr val="6A1B9A">
              <a:alpha val="60000"/>
            </a:srgbClr>
          </a:solidFill>
          <a:ln w="12700">
            <a:solidFill>
              <a:srgbClr val="6A1B9A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1"/>
          <p:cNvSpPr txBox="1"/>
          <p:nvPr/>
        </p:nvSpPr>
        <p:spPr>
          <a:xfrm>
            <a:off x="256031" y="274964"/>
            <a:ext cx="868680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Before We Start</a:t>
            </a:r>
          </a:p>
        </p:txBody>
      </p:sp>
      <p:sp>
        <p:nvSpPr>
          <p:cNvPr id="34" name="Shape 2"/>
          <p:cNvSpPr/>
          <p:nvPr/>
        </p:nvSpPr>
        <p:spPr>
          <a:xfrm>
            <a:off x="256031" y="822960"/>
            <a:ext cx="1371601" cy="50293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Shape 3"/>
          <p:cNvSpPr/>
          <p:nvPr/>
        </p:nvSpPr>
        <p:spPr>
          <a:xfrm>
            <a:off x="256031" y="914400"/>
            <a:ext cx="8686801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4"/>
          <p:cNvSpPr txBox="1"/>
          <p:nvPr/>
        </p:nvSpPr>
        <p:spPr>
          <a:xfrm>
            <a:off x="411479" y="1023419"/>
            <a:ext cx="84124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The GNS3 lab from Lab 02 must be running. Verify connectivity before anything else.</a:t>
            </a:r>
          </a:p>
        </p:txBody>
      </p:sp>
      <p:sp>
        <p:nvSpPr>
          <p:cNvPr id="37" name="Shape 5"/>
          <p:cNvSpPr/>
          <p:nvPr/>
        </p:nvSpPr>
        <p:spPr>
          <a:xfrm>
            <a:off x="256032" y="1389888"/>
            <a:ext cx="4251960" cy="1645921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6"/>
          <p:cNvSpPr txBox="1"/>
          <p:nvPr/>
        </p:nvSpPr>
        <p:spPr>
          <a:xfrm>
            <a:off x="411479" y="1544251"/>
            <a:ext cx="39319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0BCD4"/>
                </a:solidFill>
              </a:defRPr>
            </a:lvl1pPr>
          </a:lstStyle>
          <a:p>
            <a:pPr/>
            <a:r>
              <a:t>Connectivity checks</a:t>
            </a:r>
          </a:p>
        </p:txBody>
      </p:sp>
      <p:sp>
        <p:nvSpPr>
          <p:cNvPr id="39" name="Shape 7"/>
          <p:cNvSpPr/>
          <p:nvPr/>
        </p:nvSpPr>
        <p:spPr>
          <a:xfrm>
            <a:off x="411480" y="1874520"/>
            <a:ext cx="164593" cy="164593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8"/>
          <p:cNvSpPr txBox="1"/>
          <p:nvPr/>
        </p:nvSpPr>
        <p:spPr>
          <a:xfrm>
            <a:off x="658367" y="1907970"/>
            <a:ext cx="37490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From Alice: ping the router (10.0.0.1)</a:t>
            </a:r>
          </a:p>
        </p:txBody>
      </p:sp>
      <p:sp>
        <p:nvSpPr>
          <p:cNvPr id="41" name="Shape 9"/>
          <p:cNvSpPr/>
          <p:nvPr/>
        </p:nvSpPr>
        <p:spPr>
          <a:xfrm>
            <a:off x="411480" y="2185416"/>
            <a:ext cx="164593" cy="164593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10"/>
          <p:cNvSpPr txBox="1"/>
          <p:nvPr/>
        </p:nvSpPr>
        <p:spPr>
          <a:xfrm>
            <a:off x="658367" y="2218866"/>
            <a:ext cx="37490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From Alice: ping Bob (10.0.0.20)</a:t>
            </a:r>
          </a:p>
        </p:txBody>
      </p:sp>
      <p:sp>
        <p:nvSpPr>
          <p:cNvPr id="43" name="Shape 11"/>
          <p:cNvSpPr/>
          <p:nvPr/>
        </p:nvSpPr>
        <p:spPr>
          <a:xfrm>
            <a:off x="411480" y="2496311"/>
            <a:ext cx="164593" cy="164593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12"/>
          <p:cNvSpPr txBox="1"/>
          <p:nvPr/>
        </p:nvSpPr>
        <p:spPr>
          <a:xfrm>
            <a:off x="658367" y="2529762"/>
            <a:ext cx="37490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From Alice: ping 8.8.8.8 (internet)</a:t>
            </a:r>
          </a:p>
        </p:txBody>
      </p:sp>
      <p:sp>
        <p:nvSpPr>
          <p:cNvPr id="45" name="Shape 13"/>
          <p:cNvSpPr/>
          <p:nvPr/>
        </p:nvSpPr>
        <p:spPr>
          <a:xfrm>
            <a:off x="4690871" y="1389888"/>
            <a:ext cx="4251961" cy="1645921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4"/>
          <p:cNvSpPr txBox="1"/>
          <p:nvPr/>
        </p:nvSpPr>
        <p:spPr>
          <a:xfrm>
            <a:off x="4846320" y="1544251"/>
            <a:ext cx="39319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0BCD4"/>
                </a:solidFill>
              </a:defRPr>
            </a:lvl1pPr>
          </a:lstStyle>
          <a:p>
            <a:pPr/>
            <a:r>
              <a:t>Install tools (once)</a:t>
            </a:r>
          </a:p>
        </p:txBody>
      </p:sp>
      <p:sp>
        <p:nvSpPr>
          <p:cNvPr id="47" name="Shape 15"/>
          <p:cNvSpPr/>
          <p:nvPr/>
        </p:nvSpPr>
        <p:spPr>
          <a:xfrm>
            <a:off x="4846320" y="1874520"/>
            <a:ext cx="685801" cy="256033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Text 16"/>
          <p:cNvSpPr txBox="1"/>
          <p:nvPr/>
        </p:nvSpPr>
        <p:spPr>
          <a:xfrm>
            <a:off x="4846320" y="1939036"/>
            <a:ext cx="685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Alice</a:t>
            </a:r>
          </a:p>
        </p:txBody>
      </p:sp>
      <p:sp>
        <p:nvSpPr>
          <p:cNvPr id="49" name="Text 17"/>
          <p:cNvSpPr txBox="1"/>
          <p:nvPr/>
        </p:nvSpPr>
        <p:spPr>
          <a:xfrm>
            <a:off x="5605271" y="1934000"/>
            <a:ext cx="32004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openssl  ·  python3  ·  tshark</a:t>
            </a:r>
          </a:p>
        </p:txBody>
      </p:sp>
      <p:sp>
        <p:nvSpPr>
          <p:cNvPr id="50" name="Shape 18"/>
          <p:cNvSpPr/>
          <p:nvPr/>
        </p:nvSpPr>
        <p:spPr>
          <a:xfrm>
            <a:off x="4846320" y="2221992"/>
            <a:ext cx="685801" cy="256033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19"/>
          <p:cNvSpPr txBox="1"/>
          <p:nvPr/>
        </p:nvSpPr>
        <p:spPr>
          <a:xfrm>
            <a:off x="4846320" y="2286508"/>
            <a:ext cx="685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Bob</a:t>
            </a:r>
          </a:p>
        </p:txBody>
      </p:sp>
      <p:sp>
        <p:nvSpPr>
          <p:cNvPr id="52" name="Text 20"/>
          <p:cNvSpPr txBox="1"/>
          <p:nvPr/>
        </p:nvSpPr>
        <p:spPr>
          <a:xfrm>
            <a:off x="5605271" y="2281471"/>
            <a:ext cx="32004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openssl  ·  python3  ·  nginx  ·  tshark</a:t>
            </a:r>
          </a:p>
        </p:txBody>
      </p:sp>
      <p:sp>
        <p:nvSpPr>
          <p:cNvPr id="53" name="Shape 21"/>
          <p:cNvSpPr/>
          <p:nvPr/>
        </p:nvSpPr>
        <p:spPr>
          <a:xfrm>
            <a:off x="4846320" y="2569464"/>
            <a:ext cx="685801" cy="256033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22"/>
          <p:cNvSpPr txBox="1"/>
          <p:nvPr/>
        </p:nvSpPr>
        <p:spPr>
          <a:xfrm>
            <a:off x="4846320" y="2633980"/>
            <a:ext cx="685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Darth</a:t>
            </a:r>
          </a:p>
        </p:txBody>
      </p:sp>
      <p:sp>
        <p:nvSpPr>
          <p:cNvPr id="55" name="Text 23"/>
          <p:cNvSpPr txBox="1"/>
          <p:nvPr/>
        </p:nvSpPr>
        <p:spPr>
          <a:xfrm>
            <a:off x="5605271" y="2628943"/>
            <a:ext cx="32004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tshark  ·  python3</a:t>
            </a:r>
          </a:p>
        </p:txBody>
      </p:sp>
      <p:sp>
        <p:nvSpPr>
          <p:cNvPr id="56" name="Shape 24"/>
          <p:cNvSpPr/>
          <p:nvPr/>
        </p:nvSpPr>
        <p:spPr>
          <a:xfrm>
            <a:off x="256031" y="3127248"/>
            <a:ext cx="8686801" cy="457201"/>
          </a:xfrm>
          <a:prstGeom prst="rect">
            <a:avLst/>
          </a:prstGeom>
          <a:solidFill>
            <a:srgbClr val="2D3748"/>
          </a:solidFill>
          <a:ln w="1016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25"/>
          <p:cNvSpPr txBox="1"/>
          <p:nvPr/>
        </p:nvSpPr>
        <p:spPr>
          <a:xfrm>
            <a:off x="384047" y="3288713"/>
            <a:ext cx="84124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00BCD4"/>
                </a:solidFill>
              </a:defRPr>
            </a:pPr>
            <a:r>
              <a:t>Today Bob is the server</a:t>
            </a:r>
            <a:r>
              <a:rPr b="0">
                <a:solidFill>
                  <a:srgbClr val="FFFFFF"/>
                </a:solidFill>
              </a:rPr>
              <a:t>  — Bob generates the CA, signs the certificate, and runs both NGINX and the TLS server. Alice is the client. Darth observes.</a:t>
            </a:r>
          </a:p>
        </p:txBody>
      </p:sp>
      <p:sp>
        <p:nvSpPr>
          <p:cNvPr id="58" name="Text 26"/>
          <p:cNvSpPr txBox="1"/>
          <p:nvPr/>
        </p:nvSpPr>
        <p:spPr>
          <a:xfrm>
            <a:off x="256031" y="3734615"/>
            <a:ext cx="18288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0BCD4"/>
                </a:solidFill>
              </a:defRPr>
            </a:lvl1pPr>
          </a:lstStyle>
          <a:p>
            <a:pPr/>
            <a:r>
              <a:t>Roles today</a:t>
            </a:r>
          </a:p>
        </p:txBody>
      </p:sp>
      <p:sp>
        <p:nvSpPr>
          <p:cNvPr id="59" name="Shape 27"/>
          <p:cNvSpPr/>
          <p:nvPr/>
        </p:nvSpPr>
        <p:spPr>
          <a:xfrm>
            <a:off x="256031" y="4005071"/>
            <a:ext cx="2788922" cy="621793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28"/>
          <p:cNvSpPr txBox="1"/>
          <p:nvPr/>
        </p:nvSpPr>
        <p:spPr>
          <a:xfrm>
            <a:off x="256031" y="4080116"/>
            <a:ext cx="278892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Alice</a:t>
            </a:r>
          </a:p>
        </p:txBody>
      </p:sp>
      <p:sp>
        <p:nvSpPr>
          <p:cNvPr id="61" name="Text 29"/>
          <p:cNvSpPr txBox="1"/>
          <p:nvPr/>
        </p:nvSpPr>
        <p:spPr>
          <a:xfrm>
            <a:off x="256031" y="4371339"/>
            <a:ext cx="2788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10.0.0.10  ·  client / victim</a:t>
            </a:r>
          </a:p>
        </p:txBody>
      </p:sp>
      <p:sp>
        <p:nvSpPr>
          <p:cNvPr id="62" name="Shape 30"/>
          <p:cNvSpPr/>
          <p:nvPr/>
        </p:nvSpPr>
        <p:spPr>
          <a:xfrm>
            <a:off x="3154679" y="4005071"/>
            <a:ext cx="2788921" cy="621793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31"/>
          <p:cNvSpPr txBox="1"/>
          <p:nvPr/>
        </p:nvSpPr>
        <p:spPr>
          <a:xfrm>
            <a:off x="3154679" y="4080116"/>
            <a:ext cx="278892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Bob</a:t>
            </a:r>
          </a:p>
        </p:txBody>
      </p:sp>
      <p:sp>
        <p:nvSpPr>
          <p:cNvPr id="64" name="Text 32"/>
          <p:cNvSpPr txBox="1"/>
          <p:nvPr/>
        </p:nvSpPr>
        <p:spPr>
          <a:xfrm>
            <a:off x="3154679" y="4371339"/>
            <a:ext cx="2788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10.0.0.20  ·  server / CA</a:t>
            </a:r>
          </a:p>
        </p:txBody>
      </p:sp>
      <p:sp>
        <p:nvSpPr>
          <p:cNvPr id="65" name="Shape 33"/>
          <p:cNvSpPr/>
          <p:nvPr/>
        </p:nvSpPr>
        <p:spPr>
          <a:xfrm>
            <a:off x="6053328" y="4005071"/>
            <a:ext cx="2788921" cy="621793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34"/>
          <p:cNvSpPr txBox="1"/>
          <p:nvPr/>
        </p:nvSpPr>
        <p:spPr>
          <a:xfrm>
            <a:off x="6053328" y="4080116"/>
            <a:ext cx="278892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Darth</a:t>
            </a:r>
          </a:p>
        </p:txBody>
      </p:sp>
      <p:sp>
        <p:nvSpPr>
          <p:cNvPr id="67" name="Text 35"/>
          <p:cNvSpPr txBox="1"/>
          <p:nvPr/>
        </p:nvSpPr>
        <p:spPr>
          <a:xfrm>
            <a:off x="6053328" y="4371339"/>
            <a:ext cx="2788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10.0.0.30  ·  attacker / eavesdropper</a:t>
            </a:r>
          </a:p>
        </p:txBody>
      </p:sp>
      <p:sp>
        <p:nvSpPr>
          <p:cNvPr id="68" name="Shape 36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A1523"/>
          </a:solidFill>
          <a:ln w="12700">
            <a:solidFill>
              <a:srgbClr val="0A152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37"/>
          <p:cNvSpPr txBox="1"/>
          <p:nvPr/>
        </p:nvSpPr>
        <p:spPr>
          <a:xfrm>
            <a:off x="182879" y="4938268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8909C"/>
                </a:solidFill>
              </a:defRPr>
            </a:lvl1pPr>
          </a:lstStyle>
          <a:p>
            <a:pPr/>
            <a:r>
              <a:t>If something doesn't work — raise your hand before moving 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1"/>
          <p:cNvSpPr txBox="1"/>
          <p:nvPr/>
        </p:nvSpPr>
        <p:spPr>
          <a:xfrm>
            <a:off x="256031" y="274964"/>
            <a:ext cx="868680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Today's Roadmap</a:t>
            </a:r>
          </a:p>
        </p:txBody>
      </p:sp>
      <p:sp>
        <p:nvSpPr>
          <p:cNvPr id="73" name="Shape 2"/>
          <p:cNvSpPr/>
          <p:nvPr/>
        </p:nvSpPr>
        <p:spPr>
          <a:xfrm>
            <a:off x="256031" y="822960"/>
            <a:ext cx="1371601" cy="50293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3"/>
          <p:cNvSpPr/>
          <p:nvPr/>
        </p:nvSpPr>
        <p:spPr>
          <a:xfrm>
            <a:off x="256031" y="987552"/>
            <a:ext cx="475489" cy="749809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4"/>
          <p:cNvSpPr txBox="1"/>
          <p:nvPr/>
        </p:nvSpPr>
        <p:spPr>
          <a:xfrm>
            <a:off x="256031" y="1220560"/>
            <a:ext cx="475489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6" name="Shape 5"/>
          <p:cNvSpPr/>
          <p:nvPr/>
        </p:nvSpPr>
        <p:spPr>
          <a:xfrm>
            <a:off x="749808" y="987552"/>
            <a:ext cx="8193024" cy="749809"/>
          </a:xfrm>
          <a:prstGeom prst="rect">
            <a:avLst/>
          </a:prstGeom>
          <a:solidFill>
            <a:srgbClr val="2D3748"/>
          </a:solidFill>
          <a:ln w="10160">
            <a:solidFill>
              <a:srgbClr val="1565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6"/>
          <p:cNvSpPr txBox="1"/>
          <p:nvPr/>
        </p:nvSpPr>
        <p:spPr>
          <a:xfrm>
            <a:off x="914400" y="1114483"/>
            <a:ext cx="790956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PKI &amp; Certificates — Asymmetric Crypto in Practice</a:t>
            </a:r>
          </a:p>
        </p:txBody>
      </p:sp>
      <p:sp>
        <p:nvSpPr>
          <p:cNvPr id="78" name="Text 7"/>
          <p:cNvSpPr txBox="1"/>
          <p:nvPr/>
        </p:nvSpPr>
        <p:spPr>
          <a:xfrm>
            <a:off x="914400" y="1459914"/>
            <a:ext cx="790956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909C"/>
                </a:solidFill>
              </a:defRPr>
            </a:lvl1pPr>
          </a:lstStyle>
          <a:p>
            <a:pPr/>
            <a:r>
              <a:t>The key distribution problem, X.509 certificates, Certificate Authorities, and the trust chain.</a:t>
            </a:r>
          </a:p>
        </p:txBody>
      </p:sp>
      <p:sp>
        <p:nvSpPr>
          <p:cNvPr id="79" name="Shape 8"/>
          <p:cNvSpPr/>
          <p:nvPr/>
        </p:nvSpPr>
        <p:spPr>
          <a:xfrm>
            <a:off x="256031" y="1956816"/>
            <a:ext cx="475489" cy="749809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9"/>
          <p:cNvSpPr txBox="1"/>
          <p:nvPr/>
        </p:nvSpPr>
        <p:spPr>
          <a:xfrm>
            <a:off x="256031" y="2189824"/>
            <a:ext cx="475489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1" name="Shape 10"/>
          <p:cNvSpPr/>
          <p:nvPr/>
        </p:nvSpPr>
        <p:spPr>
          <a:xfrm>
            <a:off x="749808" y="1956816"/>
            <a:ext cx="8193024" cy="749809"/>
          </a:xfrm>
          <a:prstGeom prst="rect">
            <a:avLst/>
          </a:prstGeom>
          <a:solidFill>
            <a:srgbClr val="2D3748"/>
          </a:solidFill>
          <a:ln w="10160">
            <a:solidFill>
              <a:srgbClr val="2E7D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11"/>
          <p:cNvSpPr txBox="1"/>
          <p:nvPr/>
        </p:nvSpPr>
        <p:spPr>
          <a:xfrm>
            <a:off x="914400" y="2083747"/>
            <a:ext cx="790956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ES01–02 — Bob Builds a CA, Signs a Cert, Serves HTTPS</a:t>
            </a:r>
          </a:p>
        </p:txBody>
      </p:sp>
      <p:sp>
        <p:nvSpPr>
          <p:cNvPr id="83" name="Text 12"/>
          <p:cNvSpPr txBox="1"/>
          <p:nvPr/>
        </p:nvSpPr>
        <p:spPr>
          <a:xfrm>
            <a:off x="914400" y="2429178"/>
            <a:ext cx="790956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909C"/>
                </a:solidFill>
              </a:defRPr>
            </a:lvl1pPr>
          </a:lstStyle>
          <a:p>
            <a:pPr/>
            <a:r>
              <a:t>Bob generates a CA, signs a server cert, configures NGINX. Alice connects with curl using the CA file.</a:t>
            </a:r>
          </a:p>
        </p:txBody>
      </p:sp>
      <p:sp>
        <p:nvSpPr>
          <p:cNvPr id="84" name="Shape 13"/>
          <p:cNvSpPr/>
          <p:nvPr/>
        </p:nvSpPr>
        <p:spPr>
          <a:xfrm>
            <a:off x="256031" y="2926079"/>
            <a:ext cx="475489" cy="749809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14"/>
          <p:cNvSpPr txBox="1"/>
          <p:nvPr/>
        </p:nvSpPr>
        <p:spPr>
          <a:xfrm>
            <a:off x="256031" y="3159088"/>
            <a:ext cx="475489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6" name="Shape 15"/>
          <p:cNvSpPr/>
          <p:nvPr/>
        </p:nvSpPr>
        <p:spPr>
          <a:xfrm>
            <a:off x="749808" y="2926079"/>
            <a:ext cx="8193024" cy="749809"/>
          </a:xfrm>
          <a:prstGeom prst="rect">
            <a:avLst/>
          </a:prstGeom>
          <a:solidFill>
            <a:srgbClr val="2D3748"/>
          </a:solidFill>
          <a:ln w="10160">
            <a:solidFill>
              <a:srgbClr val="6A1B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16"/>
          <p:cNvSpPr txBox="1"/>
          <p:nvPr/>
        </p:nvSpPr>
        <p:spPr>
          <a:xfrm>
            <a:off x="914400" y="3053011"/>
            <a:ext cx="79095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ES03 (a–d) — TLS Socket in Python</a:t>
            </a:r>
          </a:p>
        </p:txBody>
      </p:sp>
      <p:sp>
        <p:nvSpPr>
          <p:cNvPr id="88" name="Text 17"/>
          <p:cNvSpPr txBox="1"/>
          <p:nvPr/>
        </p:nvSpPr>
        <p:spPr>
          <a:xfrm>
            <a:off x="914400" y="3398442"/>
            <a:ext cx="790956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909C"/>
                </a:solidFill>
              </a:defRPr>
            </a:lvl1pPr>
          </a:lstStyle>
          <a:p>
            <a:pPr/>
            <a:r>
              <a:t>Bob and Alice implement a TLS echo server/client from scratch. Wireshark comparison with Lab 02.</a:t>
            </a:r>
          </a:p>
        </p:txBody>
      </p:sp>
      <p:sp>
        <p:nvSpPr>
          <p:cNvPr id="89" name="Shape 18"/>
          <p:cNvSpPr/>
          <p:nvPr/>
        </p:nvSpPr>
        <p:spPr>
          <a:xfrm>
            <a:off x="256031" y="3895344"/>
            <a:ext cx="475489" cy="749809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Text 19"/>
          <p:cNvSpPr txBox="1"/>
          <p:nvPr/>
        </p:nvSpPr>
        <p:spPr>
          <a:xfrm>
            <a:off x="256031" y="4128352"/>
            <a:ext cx="475489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1" name="Shape 20"/>
          <p:cNvSpPr/>
          <p:nvPr/>
        </p:nvSpPr>
        <p:spPr>
          <a:xfrm>
            <a:off x="749808" y="3895344"/>
            <a:ext cx="8193024" cy="749809"/>
          </a:xfrm>
          <a:prstGeom prst="rect">
            <a:avLst/>
          </a:prstGeom>
          <a:solidFill>
            <a:srgbClr val="2D3748"/>
          </a:solidFill>
          <a:ln w="10160">
            <a:solidFill>
              <a:srgbClr val="E651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21"/>
          <p:cNvSpPr txBox="1"/>
          <p:nvPr/>
        </p:nvSpPr>
        <p:spPr>
          <a:xfrm>
            <a:off x="914400" y="4022275"/>
            <a:ext cx="790956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ES03e + ES04 — MITM with Darth &amp; Let's Encrypt</a:t>
            </a:r>
          </a:p>
        </p:txBody>
      </p:sp>
      <p:sp>
        <p:nvSpPr>
          <p:cNvPr id="93" name="Text 22"/>
          <p:cNvSpPr txBox="1"/>
          <p:nvPr/>
        </p:nvSpPr>
        <p:spPr>
          <a:xfrm>
            <a:off x="914400" y="4367705"/>
            <a:ext cx="790956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78909C"/>
                </a:solidFill>
              </a:defRPr>
            </a:lvl1pPr>
          </a:lstStyle>
          <a:p>
            <a:pPr/>
            <a:r>
              <a:t>Darth proxies TLS traffic. Then: how a real public CA (Let's Encrypt) eliminates manual trust setup.</a:t>
            </a:r>
          </a:p>
        </p:txBody>
      </p:sp>
      <p:sp>
        <p:nvSpPr>
          <p:cNvPr id="94" name="Shape 23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A1523"/>
          </a:solidFill>
          <a:ln w="12700">
            <a:solidFill>
              <a:srgbClr val="0A152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24"/>
          <p:cNvSpPr txBox="1"/>
          <p:nvPr/>
        </p:nvSpPr>
        <p:spPr>
          <a:xfrm>
            <a:off x="182879" y="4938268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8909C"/>
                </a:solidFill>
              </a:defRPr>
            </a:lvl1pPr>
          </a:lstStyle>
          <a:p>
            <a:pPr/>
            <a:r>
              <a:t>All exercises run inside Alice, Bob, and Darth. Switch → Hub for Wireshark exercises.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1"/>
          <p:cNvSpPr txBox="1"/>
          <p:nvPr/>
        </p:nvSpPr>
        <p:spPr>
          <a:xfrm>
            <a:off x="256031" y="256676"/>
            <a:ext cx="868680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Key Distribution Problem</a:t>
            </a:r>
          </a:p>
        </p:txBody>
      </p:sp>
      <p:sp>
        <p:nvSpPr>
          <p:cNvPr id="99" name="Shape 2"/>
          <p:cNvSpPr/>
          <p:nvPr/>
        </p:nvSpPr>
        <p:spPr>
          <a:xfrm>
            <a:off x="256031" y="804672"/>
            <a:ext cx="1371601" cy="50293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3"/>
          <p:cNvSpPr txBox="1"/>
          <p:nvPr/>
        </p:nvSpPr>
        <p:spPr>
          <a:xfrm>
            <a:off x="256031" y="1002714"/>
            <a:ext cx="8686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78909C"/>
                </a:solidFill>
              </a:defRPr>
            </a:lvl1pPr>
          </a:lstStyle>
          <a:p>
            <a:pPr/>
            <a:r>
              <a:t>In Lab 02, Alice and Bob used AES-256-CBC with mysecretkey hardcoded. That assumption has a name.</a:t>
            </a:r>
          </a:p>
        </p:txBody>
      </p:sp>
      <p:sp>
        <p:nvSpPr>
          <p:cNvPr id="101" name="Shape 4"/>
          <p:cNvSpPr/>
          <p:nvPr/>
        </p:nvSpPr>
        <p:spPr>
          <a:xfrm>
            <a:off x="256031" y="1371600"/>
            <a:ext cx="713233" cy="822961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5"/>
          <p:cNvSpPr txBox="1"/>
          <p:nvPr/>
        </p:nvSpPr>
        <p:spPr>
          <a:xfrm>
            <a:off x="256031" y="1715307"/>
            <a:ext cx="713233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</a:t>
            </a:r>
          </a:p>
        </p:txBody>
      </p:sp>
      <p:sp>
        <p:nvSpPr>
          <p:cNvPr id="103" name="Shape 6"/>
          <p:cNvSpPr/>
          <p:nvPr/>
        </p:nvSpPr>
        <p:spPr>
          <a:xfrm>
            <a:off x="1005839" y="1371600"/>
            <a:ext cx="7882130" cy="822961"/>
          </a:xfrm>
          <a:prstGeom prst="rect">
            <a:avLst/>
          </a:prstGeom>
          <a:solidFill>
            <a:srgbClr val="E0E7EF"/>
          </a:solidFill>
          <a:ln w="12700">
            <a:solidFill>
              <a:srgbClr val="E0E7E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7"/>
          <p:cNvSpPr txBox="1"/>
          <p:nvPr/>
        </p:nvSpPr>
        <p:spPr>
          <a:xfrm>
            <a:off x="1143000" y="1489386"/>
            <a:ext cx="7589519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One key for both sides</a:t>
            </a:r>
          </a:p>
        </p:txBody>
      </p:sp>
      <p:sp>
        <p:nvSpPr>
          <p:cNvPr id="105" name="Text 8"/>
          <p:cNvSpPr txBox="1"/>
          <p:nvPr/>
        </p:nvSpPr>
        <p:spPr>
          <a:xfrm>
            <a:off x="1143000" y="1889681"/>
            <a:ext cx="7589519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7474F"/>
                </a:solidFill>
              </a:defRPr>
            </a:lvl1pPr>
          </a:lstStyle>
          <a:p>
            <a:pPr/>
            <a:r>
              <a:t>The same secret key encrypts and decrypts. Anyone who knows the key can read every message.</a:t>
            </a:r>
          </a:p>
        </p:txBody>
      </p:sp>
      <p:sp>
        <p:nvSpPr>
          <p:cNvPr id="106" name="Shape 9"/>
          <p:cNvSpPr/>
          <p:nvPr/>
        </p:nvSpPr>
        <p:spPr>
          <a:xfrm>
            <a:off x="256031" y="2514600"/>
            <a:ext cx="713233" cy="822961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10"/>
          <p:cNvSpPr txBox="1"/>
          <p:nvPr/>
        </p:nvSpPr>
        <p:spPr>
          <a:xfrm>
            <a:off x="256031" y="2858307"/>
            <a:ext cx="713233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DIST</a:t>
            </a:r>
          </a:p>
        </p:txBody>
      </p:sp>
      <p:sp>
        <p:nvSpPr>
          <p:cNvPr id="108" name="Shape 11"/>
          <p:cNvSpPr/>
          <p:nvPr/>
        </p:nvSpPr>
        <p:spPr>
          <a:xfrm>
            <a:off x="1005839" y="2514600"/>
            <a:ext cx="7882130" cy="822961"/>
          </a:xfrm>
          <a:prstGeom prst="rect">
            <a:avLst/>
          </a:prstGeom>
          <a:solidFill>
            <a:srgbClr val="E0E7EF"/>
          </a:solidFill>
          <a:ln w="12700">
            <a:solidFill>
              <a:srgbClr val="E0E7E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12"/>
          <p:cNvSpPr txBox="1"/>
          <p:nvPr/>
        </p:nvSpPr>
        <p:spPr>
          <a:xfrm>
            <a:off x="1143000" y="2632387"/>
            <a:ext cx="7589519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The distribution problem</a:t>
            </a:r>
          </a:p>
        </p:txBody>
      </p:sp>
      <p:sp>
        <p:nvSpPr>
          <p:cNvPr id="110" name="Text 13"/>
          <p:cNvSpPr txBox="1"/>
          <p:nvPr/>
        </p:nvSpPr>
        <p:spPr>
          <a:xfrm>
            <a:off x="1143000" y="3032681"/>
            <a:ext cx="7589519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7474F"/>
                </a:solidFill>
              </a:defRPr>
            </a:lvl1pPr>
          </a:lstStyle>
          <a:p>
            <a:pPr/>
            <a:r>
              <a:t>Before communicating securely, both sides must agree on a key. Any channel they use could be intercepted by Darth.</a:t>
            </a:r>
          </a:p>
        </p:txBody>
      </p:sp>
      <p:sp>
        <p:nvSpPr>
          <p:cNvPr id="111" name="Shape 14"/>
          <p:cNvSpPr/>
          <p:nvPr/>
        </p:nvSpPr>
        <p:spPr>
          <a:xfrm>
            <a:off x="256031" y="3657600"/>
            <a:ext cx="713233" cy="822961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15"/>
          <p:cNvSpPr txBox="1"/>
          <p:nvPr/>
        </p:nvSpPr>
        <p:spPr>
          <a:xfrm>
            <a:off x="256031" y="4001307"/>
            <a:ext cx="713233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FIX</a:t>
            </a:r>
          </a:p>
        </p:txBody>
      </p:sp>
      <p:sp>
        <p:nvSpPr>
          <p:cNvPr id="113" name="Shape 16"/>
          <p:cNvSpPr/>
          <p:nvPr/>
        </p:nvSpPr>
        <p:spPr>
          <a:xfrm>
            <a:off x="1005839" y="3657600"/>
            <a:ext cx="7882130" cy="822961"/>
          </a:xfrm>
          <a:prstGeom prst="rect">
            <a:avLst/>
          </a:prstGeom>
          <a:solidFill>
            <a:srgbClr val="E0E7EF"/>
          </a:solidFill>
          <a:ln w="12700">
            <a:solidFill>
              <a:srgbClr val="E0E7E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17"/>
          <p:cNvSpPr txBox="1"/>
          <p:nvPr/>
        </p:nvSpPr>
        <p:spPr>
          <a:xfrm>
            <a:off x="1143000" y="3775386"/>
            <a:ext cx="7589519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The solution: asymmetric cryptography</a:t>
            </a:r>
          </a:p>
        </p:txBody>
      </p:sp>
      <p:sp>
        <p:nvSpPr>
          <p:cNvPr id="115" name="Text 18"/>
          <p:cNvSpPr txBox="1"/>
          <p:nvPr/>
        </p:nvSpPr>
        <p:spPr>
          <a:xfrm>
            <a:off x="1143000" y="4093131"/>
            <a:ext cx="7589519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7474F"/>
                </a:solidFill>
              </a:defRPr>
            </a:lvl1pPr>
          </a:lstStyle>
          <a:p>
            <a:pPr/>
            <a:r>
              <a:t>A key pair — public + private — lets two parties agree on a shared secret over an insecure channel without having met. This is what TLS does on every HTTPS page.</a:t>
            </a:r>
          </a:p>
        </p:txBody>
      </p:sp>
      <p:sp>
        <p:nvSpPr>
          <p:cNvPr id="116" name="Shape 19"/>
          <p:cNvSpPr/>
          <p:nvPr/>
        </p:nvSpPr>
        <p:spPr>
          <a:xfrm>
            <a:off x="256031" y="4663440"/>
            <a:ext cx="8686801" cy="329185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20"/>
          <p:cNvSpPr txBox="1"/>
          <p:nvPr/>
        </p:nvSpPr>
        <p:spPr>
          <a:xfrm>
            <a:off x="411479" y="4759496"/>
            <a:ext cx="84124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00BCD4"/>
                </a:solidFill>
              </a:defRPr>
            </a:lvl1pPr>
          </a:lstStyle>
          <a:p>
            <a:pPr/>
            <a:r>
              <a:t>Symmetric crypto: fast, secure, but requires a pre-shared key. Asymmetric crypto solves exactly this.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1"/>
          <p:cNvSpPr txBox="1"/>
          <p:nvPr/>
        </p:nvSpPr>
        <p:spPr>
          <a:xfrm>
            <a:off x="256031" y="256676"/>
            <a:ext cx="868680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Asymmetric Crypto — Two Use Cases</a:t>
            </a:r>
          </a:p>
        </p:txBody>
      </p:sp>
      <p:sp>
        <p:nvSpPr>
          <p:cNvPr id="121" name="Shape 2"/>
          <p:cNvSpPr/>
          <p:nvPr/>
        </p:nvSpPr>
        <p:spPr>
          <a:xfrm>
            <a:off x="256031" y="804672"/>
            <a:ext cx="1371601" cy="50293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3"/>
          <p:cNvSpPr txBox="1"/>
          <p:nvPr/>
        </p:nvSpPr>
        <p:spPr>
          <a:xfrm>
            <a:off x="256031" y="1002714"/>
            <a:ext cx="8686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78909C"/>
                </a:solidFill>
              </a:defRPr>
            </a:lvl1pPr>
          </a:lstStyle>
          <a:p>
            <a:pPr/>
            <a:r>
              <a:t>The direction of the keys determines the goal. TLS uses both simultaneously.</a:t>
            </a:r>
          </a:p>
        </p:txBody>
      </p:sp>
      <p:sp>
        <p:nvSpPr>
          <p:cNvPr id="123" name="Shape 4"/>
          <p:cNvSpPr/>
          <p:nvPr/>
        </p:nvSpPr>
        <p:spPr>
          <a:xfrm>
            <a:off x="256031" y="1298447"/>
            <a:ext cx="4224530" cy="3383281"/>
          </a:xfrm>
          <a:prstGeom prst="rect">
            <a:avLst/>
          </a:prstGeom>
          <a:solidFill>
            <a:srgbClr val="FFFFFF"/>
          </a:solidFill>
          <a:ln w="15240">
            <a:solidFill>
              <a:srgbClr val="1565C0"/>
            </a:solidFill>
          </a:ln>
          <a:effectLst>
            <a:outerShdw sx="100000" sy="100000" kx="0" ky="0" algn="b" rotWithShape="0" blurRad="762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" name="Shape 5"/>
          <p:cNvSpPr/>
          <p:nvPr/>
        </p:nvSpPr>
        <p:spPr>
          <a:xfrm>
            <a:off x="256031" y="1298447"/>
            <a:ext cx="422453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6"/>
          <p:cNvSpPr txBox="1"/>
          <p:nvPr/>
        </p:nvSpPr>
        <p:spPr>
          <a:xfrm>
            <a:off x="365759" y="1434498"/>
            <a:ext cx="4005073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Confidentiality — Encryption</a:t>
            </a:r>
          </a:p>
        </p:txBody>
      </p:sp>
      <p:sp>
        <p:nvSpPr>
          <p:cNvPr id="126" name="Shape 7"/>
          <p:cNvSpPr/>
          <p:nvPr/>
        </p:nvSpPr>
        <p:spPr>
          <a:xfrm>
            <a:off x="365759" y="1956816"/>
            <a:ext cx="347473" cy="347473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8"/>
          <p:cNvSpPr txBox="1"/>
          <p:nvPr/>
        </p:nvSpPr>
        <p:spPr>
          <a:xfrm>
            <a:off x="365759" y="2056637"/>
            <a:ext cx="347473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8" name="Shape 9"/>
          <p:cNvSpPr/>
          <p:nvPr/>
        </p:nvSpPr>
        <p:spPr>
          <a:xfrm>
            <a:off x="786383" y="1920239"/>
            <a:ext cx="3547873" cy="420625"/>
          </a:xfrm>
          <a:prstGeom prst="rect">
            <a:avLst/>
          </a:prstGeom>
          <a:solidFill>
            <a:srgbClr val="E0E7EF"/>
          </a:solidFill>
          <a:ln w="10160">
            <a:solidFill>
              <a:srgbClr val="CFD8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10"/>
          <p:cNvSpPr txBox="1"/>
          <p:nvPr/>
        </p:nvSpPr>
        <p:spPr>
          <a:xfrm>
            <a:off x="896111" y="2054274"/>
            <a:ext cx="3328417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7474F"/>
                </a:solidFill>
              </a:defRPr>
            </a:lvl1pPr>
          </a:lstStyle>
          <a:p>
            <a:pPr/>
            <a:r>
              <a:t>Alice has Bob's PUBLIC key</a:t>
            </a:r>
          </a:p>
        </p:txBody>
      </p:sp>
      <p:sp>
        <p:nvSpPr>
          <p:cNvPr id="130" name="Shape 11"/>
          <p:cNvSpPr/>
          <p:nvPr/>
        </p:nvSpPr>
        <p:spPr>
          <a:xfrm>
            <a:off x="365759" y="2615183"/>
            <a:ext cx="347473" cy="347473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12"/>
          <p:cNvSpPr txBox="1"/>
          <p:nvPr/>
        </p:nvSpPr>
        <p:spPr>
          <a:xfrm>
            <a:off x="365759" y="2715005"/>
            <a:ext cx="347473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2" name="Shape 13"/>
          <p:cNvSpPr/>
          <p:nvPr/>
        </p:nvSpPr>
        <p:spPr>
          <a:xfrm>
            <a:off x="786383" y="2578607"/>
            <a:ext cx="3547873" cy="420625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14"/>
          <p:cNvSpPr txBox="1"/>
          <p:nvPr/>
        </p:nvSpPr>
        <p:spPr>
          <a:xfrm>
            <a:off x="896111" y="2712642"/>
            <a:ext cx="3328417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565C0"/>
                </a:solidFill>
              </a:defRPr>
            </a:lvl1pPr>
          </a:lstStyle>
          <a:p>
            <a:pPr/>
            <a:r>
              <a:t>Encrypts the message with Bob's PUBLIC key</a:t>
            </a:r>
          </a:p>
        </p:txBody>
      </p:sp>
      <p:sp>
        <p:nvSpPr>
          <p:cNvPr id="134" name="Shape 15"/>
          <p:cNvSpPr/>
          <p:nvPr/>
        </p:nvSpPr>
        <p:spPr>
          <a:xfrm>
            <a:off x="365759" y="3273552"/>
            <a:ext cx="347473" cy="347473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16"/>
          <p:cNvSpPr txBox="1"/>
          <p:nvPr/>
        </p:nvSpPr>
        <p:spPr>
          <a:xfrm>
            <a:off x="365759" y="3373373"/>
            <a:ext cx="347473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36" name="Shape 17"/>
          <p:cNvSpPr/>
          <p:nvPr/>
        </p:nvSpPr>
        <p:spPr>
          <a:xfrm>
            <a:off x="786383" y="3236976"/>
            <a:ext cx="3547873" cy="420625"/>
          </a:xfrm>
          <a:prstGeom prst="rect">
            <a:avLst/>
          </a:prstGeom>
          <a:solidFill>
            <a:srgbClr val="E0E7EF"/>
          </a:solidFill>
          <a:ln w="10160">
            <a:solidFill>
              <a:srgbClr val="CFD8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18"/>
          <p:cNvSpPr txBox="1"/>
          <p:nvPr/>
        </p:nvSpPr>
        <p:spPr>
          <a:xfrm>
            <a:off x="896111" y="3371010"/>
            <a:ext cx="3328417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7474F"/>
                </a:solidFill>
              </a:defRPr>
            </a:lvl1pPr>
          </a:lstStyle>
          <a:p>
            <a:pPr/>
            <a:r>
              <a:t>Only Bob can decrypt — he has the PRIVATE key</a:t>
            </a:r>
          </a:p>
        </p:txBody>
      </p:sp>
      <p:sp>
        <p:nvSpPr>
          <p:cNvPr id="138" name="Text 19"/>
          <p:cNvSpPr txBox="1"/>
          <p:nvPr/>
        </p:nvSpPr>
        <p:spPr>
          <a:xfrm>
            <a:off x="365759" y="4421168"/>
            <a:ext cx="3931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78909C"/>
                </a:solidFill>
              </a:defRPr>
            </a:lvl1pPr>
          </a:lstStyle>
          <a:p>
            <a:pPr/>
            <a:r>
              <a:t>Direction: public key → private key</a:t>
            </a:r>
          </a:p>
        </p:txBody>
      </p:sp>
      <p:sp>
        <p:nvSpPr>
          <p:cNvPr id="139" name="Shape 20"/>
          <p:cNvSpPr/>
          <p:nvPr/>
        </p:nvSpPr>
        <p:spPr>
          <a:xfrm>
            <a:off x="4663440" y="1298447"/>
            <a:ext cx="4224529" cy="3383281"/>
          </a:xfrm>
          <a:prstGeom prst="rect">
            <a:avLst/>
          </a:prstGeom>
          <a:solidFill>
            <a:srgbClr val="FFFFFF"/>
          </a:solidFill>
          <a:ln w="15240">
            <a:solidFill>
              <a:srgbClr val="E65100"/>
            </a:solidFill>
          </a:ln>
          <a:effectLst>
            <a:outerShdw sx="100000" sy="100000" kx="0" ky="0" algn="b" rotWithShape="0" blurRad="762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" name="Shape 21"/>
          <p:cNvSpPr/>
          <p:nvPr/>
        </p:nvSpPr>
        <p:spPr>
          <a:xfrm>
            <a:off x="4663440" y="1298447"/>
            <a:ext cx="4224529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22"/>
          <p:cNvSpPr txBox="1"/>
          <p:nvPr/>
        </p:nvSpPr>
        <p:spPr>
          <a:xfrm>
            <a:off x="4773167" y="1434498"/>
            <a:ext cx="400507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Authentication — Digital Signature</a:t>
            </a:r>
          </a:p>
        </p:txBody>
      </p:sp>
      <p:sp>
        <p:nvSpPr>
          <p:cNvPr id="142" name="Shape 23"/>
          <p:cNvSpPr/>
          <p:nvPr/>
        </p:nvSpPr>
        <p:spPr>
          <a:xfrm>
            <a:off x="4773167" y="1956816"/>
            <a:ext cx="347473" cy="347473"/>
          </a:xfrm>
          <a:prstGeom prst="rect">
            <a:avLst/>
          </a:prstGeom>
          <a:solidFill>
            <a:srgbClr val="FFCCBC"/>
          </a:solidFill>
          <a:ln w="12700">
            <a:solidFill>
              <a:srgbClr val="FFCCB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24"/>
          <p:cNvSpPr txBox="1"/>
          <p:nvPr/>
        </p:nvSpPr>
        <p:spPr>
          <a:xfrm>
            <a:off x="4773167" y="2056637"/>
            <a:ext cx="347473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4" name="Shape 25"/>
          <p:cNvSpPr/>
          <p:nvPr/>
        </p:nvSpPr>
        <p:spPr>
          <a:xfrm>
            <a:off x="5193791" y="1920239"/>
            <a:ext cx="3547872" cy="420625"/>
          </a:xfrm>
          <a:prstGeom prst="rect">
            <a:avLst/>
          </a:prstGeom>
          <a:solidFill>
            <a:srgbClr val="E0E7EF"/>
          </a:solidFill>
          <a:ln w="10160">
            <a:solidFill>
              <a:srgbClr val="CFD8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26"/>
          <p:cNvSpPr txBox="1"/>
          <p:nvPr/>
        </p:nvSpPr>
        <p:spPr>
          <a:xfrm>
            <a:off x="5303520" y="2054274"/>
            <a:ext cx="332841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7474F"/>
                </a:solidFill>
              </a:defRPr>
            </a:lvl1pPr>
          </a:lstStyle>
          <a:p>
            <a:pPr/>
            <a:r>
              <a:t>Bob signs with his own PRIVATE key</a:t>
            </a:r>
          </a:p>
        </p:txBody>
      </p:sp>
      <p:sp>
        <p:nvSpPr>
          <p:cNvPr id="146" name="Shape 27"/>
          <p:cNvSpPr/>
          <p:nvPr/>
        </p:nvSpPr>
        <p:spPr>
          <a:xfrm>
            <a:off x="4773167" y="2615183"/>
            <a:ext cx="347473" cy="347473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28"/>
          <p:cNvSpPr txBox="1"/>
          <p:nvPr/>
        </p:nvSpPr>
        <p:spPr>
          <a:xfrm>
            <a:off x="4773167" y="2715005"/>
            <a:ext cx="347473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8" name="Shape 29"/>
          <p:cNvSpPr/>
          <p:nvPr/>
        </p:nvSpPr>
        <p:spPr>
          <a:xfrm>
            <a:off x="5193791" y="2578607"/>
            <a:ext cx="3547872" cy="420625"/>
          </a:xfrm>
          <a:prstGeom prst="rect">
            <a:avLst/>
          </a:prstGeom>
          <a:solidFill>
            <a:srgbClr val="FFF3E0"/>
          </a:solidFill>
          <a:ln w="10160">
            <a:solidFill>
              <a:srgbClr val="E651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30"/>
          <p:cNvSpPr txBox="1"/>
          <p:nvPr/>
        </p:nvSpPr>
        <p:spPr>
          <a:xfrm>
            <a:off x="5303520" y="2712642"/>
            <a:ext cx="332841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E65100"/>
                </a:solidFill>
              </a:defRPr>
            </a:lvl1pPr>
          </a:lstStyle>
          <a:p>
            <a:pPr/>
            <a:r>
              <a:t>Sends message + signature to anyone</a:t>
            </a:r>
          </a:p>
        </p:txBody>
      </p:sp>
      <p:sp>
        <p:nvSpPr>
          <p:cNvPr id="150" name="Shape 31"/>
          <p:cNvSpPr/>
          <p:nvPr/>
        </p:nvSpPr>
        <p:spPr>
          <a:xfrm>
            <a:off x="4773167" y="3273552"/>
            <a:ext cx="347473" cy="347473"/>
          </a:xfrm>
          <a:prstGeom prst="rect">
            <a:avLst/>
          </a:prstGeom>
          <a:solidFill>
            <a:srgbClr val="FFCCBC"/>
          </a:solidFill>
          <a:ln w="12700">
            <a:solidFill>
              <a:srgbClr val="FFCCB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32"/>
          <p:cNvSpPr txBox="1"/>
          <p:nvPr/>
        </p:nvSpPr>
        <p:spPr>
          <a:xfrm>
            <a:off x="4773167" y="3373373"/>
            <a:ext cx="347473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2" name="Shape 33"/>
          <p:cNvSpPr/>
          <p:nvPr/>
        </p:nvSpPr>
        <p:spPr>
          <a:xfrm>
            <a:off x="5193791" y="3236976"/>
            <a:ext cx="3547872" cy="420625"/>
          </a:xfrm>
          <a:prstGeom prst="rect">
            <a:avLst/>
          </a:prstGeom>
          <a:solidFill>
            <a:srgbClr val="E0E7EF"/>
          </a:solidFill>
          <a:ln w="10160">
            <a:solidFill>
              <a:srgbClr val="CFD8D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34"/>
          <p:cNvSpPr txBox="1"/>
          <p:nvPr/>
        </p:nvSpPr>
        <p:spPr>
          <a:xfrm>
            <a:off x="5303520" y="3371010"/>
            <a:ext cx="332841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7474F"/>
                </a:solidFill>
              </a:defRPr>
            </a:lvl1pPr>
          </a:lstStyle>
          <a:p>
            <a:pPr/>
            <a:r>
              <a:t>Anyone verifies with Bob's PUBLIC key</a:t>
            </a:r>
          </a:p>
        </p:txBody>
      </p:sp>
      <p:sp>
        <p:nvSpPr>
          <p:cNvPr id="154" name="Text 35"/>
          <p:cNvSpPr txBox="1"/>
          <p:nvPr/>
        </p:nvSpPr>
        <p:spPr>
          <a:xfrm>
            <a:off x="4773167" y="4421168"/>
            <a:ext cx="39319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78909C"/>
                </a:solidFill>
              </a:defRPr>
            </a:lvl1pPr>
          </a:lstStyle>
          <a:p>
            <a:pPr/>
            <a:r>
              <a:t>Direction: private key → public key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1"/>
          <p:cNvSpPr txBox="1"/>
          <p:nvPr/>
        </p:nvSpPr>
        <p:spPr>
          <a:xfrm>
            <a:off x="256031" y="256676"/>
            <a:ext cx="868680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PKI &amp; X.509 Certificates</a:t>
            </a:r>
          </a:p>
        </p:txBody>
      </p:sp>
      <p:sp>
        <p:nvSpPr>
          <p:cNvPr id="158" name="Shape 2"/>
          <p:cNvSpPr/>
          <p:nvPr/>
        </p:nvSpPr>
        <p:spPr>
          <a:xfrm>
            <a:off x="256031" y="804672"/>
            <a:ext cx="1371601" cy="50293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3"/>
          <p:cNvSpPr txBox="1"/>
          <p:nvPr/>
        </p:nvSpPr>
        <p:spPr>
          <a:xfrm>
            <a:off x="256031" y="1002714"/>
            <a:ext cx="8686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78909C"/>
                </a:solidFill>
              </a:defRPr>
            </a:lvl1pPr>
          </a:lstStyle>
          <a:p>
            <a:pPr/>
            <a:r>
              <a:t>A public key is just bytes — without a binding to an identity you cannot know whose key it is.</a:t>
            </a:r>
          </a:p>
        </p:txBody>
      </p:sp>
      <p:sp>
        <p:nvSpPr>
          <p:cNvPr id="160" name="Shape 4"/>
          <p:cNvSpPr/>
          <p:nvPr/>
        </p:nvSpPr>
        <p:spPr>
          <a:xfrm>
            <a:off x="256031" y="1344167"/>
            <a:ext cx="713233" cy="777241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5"/>
          <p:cNvSpPr txBox="1"/>
          <p:nvPr/>
        </p:nvSpPr>
        <p:spPr>
          <a:xfrm>
            <a:off x="256031" y="1669288"/>
            <a:ext cx="7132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</a:t>
            </a:r>
          </a:p>
        </p:txBody>
      </p:sp>
      <p:sp>
        <p:nvSpPr>
          <p:cNvPr id="162" name="Shape 6"/>
          <p:cNvSpPr/>
          <p:nvPr/>
        </p:nvSpPr>
        <p:spPr>
          <a:xfrm>
            <a:off x="1005839" y="1344167"/>
            <a:ext cx="7882130" cy="777241"/>
          </a:xfrm>
          <a:prstGeom prst="rect">
            <a:avLst/>
          </a:prstGeom>
          <a:solidFill>
            <a:srgbClr val="E0E7EF"/>
          </a:solidFill>
          <a:ln w="12700">
            <a:solidFill>
              <a:srgbClr val="E0E7E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7"/>
          <p:cNvSpPr txBox="1"/>
          <p:nvPr/>
        </p:nvSpPr>
        <p:spPr>
          <a:xfrm>
            <a:off x="1143000" y="1461955"/>
            <a:ext cx="7589519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Certificate Authority (CA)</a:t>
            </a:r>
          </a:p>
        </p:txBody>
      </p:sp>
      <p:sp>
        <p:nvSpPr>
          <p:cNvPr id="164" name="Text 8"/>
          <p:cNvSpPr txBox="1"/>
          <p:nvPr/>
        </p:nvSpPr>
        <p:spPr>
          <a:xfrm>
            <a:off x="1143000" y="1761412"/>
            <a:ext cx="7589519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7474F"/>
                </a:solidFill>
              </a:defRPr>
            </a:lvl1pPr>
          </a:lstStyle>
          <a:p>
            <a:pPr/>
            <a:r>
              <a:t>A trusted entity that signs certificates. Your OS/browser ships with pre-installed root CAs. Everything chained to a root is trusted automatically.</a:t>
            </a:r>
          </a:p>
        </p:txBody>
      </p:sp>
      <p:sp>
        <p:nvSpPr>
          <p:cNvPr id="165" name="Shape 9"/>
          <p:cNvSpPr/>
          <p:nvPr/>
        </p:nvSpPr>
        <p:spPr>
          <a:xfrm>
            <a:off x="256031" y="2368295"/>
            <a:ext cx="713233" cy="777241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0"/>
          <p:cNvSpPr txBox="1"/>
          <p:nvPr/>
        </p:nvSpPr>
        <p:spPr>
          <a:xfrm>
            <a:off x="256031" y="2693416"/>
            <a:ext cx="7132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CERT</a:t>
            </a:r>
          </a:p>
        </p:txBody>
      </p:sp>
      <p:sp>
        <p:nvSpPr>
          <p:cNvPr id="167" name="Shape 11"/>
          <p:cNvSpPr/>
          <p:nvPr/>
        </p:nvSpPr>
        <p:spPr>
          <a:xfrm>
            <a:off x="1005839" y="2368295"/>
            <a:ext cx="7882130" cy="777241"/>
          </a:xfrm>
          <a:prstGeom prst="rect">
            <a:avLst/>
          </a:prstGeom>
          <a:solidFill>
            <a:srgbClr val="E0E7EF"/>
          </a:solidFill>
          <a:ln w="12700">
            <a:solidFill>
              <a:srgbClr val="E0E7E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12"/>
          <p:cNvSpPr txBox="1"/>
          <p:nvPr/>
        </p:nvSpPr>
        <p:spPr>
          <a:xfrm>
            <a:off x="1143000" y="2486083"/>
            <a:ext cx="7589519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X.509 Certificate</a:t>
            </a:r>
          </a:p>
        </p:txBody>
      </p:sp>
      <p:sp>
        <p:nvSpPr>
          <p:cNvPr id="169" name="Text 13"/>
          <p:cNvSpPr txBox="1"/>
          <p:nvPr/>
        </p:nvSpPr>
        <p:spPr>
          <a:xfrm>
            <a:off x="1143000" y="2868090"/>
            <a:ext cx="7589519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7474F"/>
                </a:solidFill>
              </a:defRPr>
            </a:lvl1pPr>
          </a:lstStyle>
          <a:p>
            <a:pPr/>
            <a:r>
              <a:t>Binds a public key to an identity. Key fields: Issuer, Subject, Validity, Subject Alternative Names (SAN), Public Key, CA Signature.</a:t>
            </a:r>
          </a:p>
        </p:txBody>
      </p:sp>
      <p:sp>
        <p:nvSpPr>
          <p:cNvPr id="170" name="Shape 14"/>
          <p:cNvSpPr/>
          <p:nvPr/>
        </p:nvSpPr>
        <p:spPr>
          <a:xfrm>
            <a:off x="256031" y="3392423"/>
            <a:ext cx="713233" cy="777241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15"/>
          <p:cNvSpPr txBox="1"/>
          <p:nvPr/>
        </p:nvSpPr>
        <p:spPr>
          <a:xfrm>
            <a:off x="256031" y="3717544"/>
            <a:ext cx="7132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SAN</a:t>
            </a:r>
          </a:p>
        </p:txBody>
      </p:sp>
      <p:sp>
        <p:nvSpPr>
          <p:cNvPr id="172" name="Shape 16"/>
          <p:cNvSpPr/>
          <p:nvPr/>
        </p:nvSpPr>
        <p:spPr>
          <a:xfrm>
            <a:off x="1005839" y="3392423"/>
            <a:ext cx="7882130" cy="777241"/>
          </a:xfrm>
          <a:prstGeom prst="rect">
            <a:avLst/>
          </a:prstGeom>
          <a:solidFill>
            <a:srgbClr val="E0E7EF"/>
          </a:solidFill>
          <a:ln w="12700">
            <a:solidFill>
              <a:srgbClr val="E0E7E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17"/>
          <p:cNvSpPr txBox="1"/>
          <p:nvPr/>
        </p:nvSpPr>
        <p:spPr>
          <a:xfrm>
            <a:off x="1143000" y="3510210"/>
            <a:ext cx="7589519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Subject Alternative Name — required by modern clients</a:t>
            </a:r>
          </a:p>
        </p:txBody>
      </p:sp>
      <p:sp>
        <p:nvSpPr>
          <p:cNvPr id="174" name="Text 18"/>
          <p:cNvSpPr txBox="1"/>
          <p:nvPr/>
        </p:nvSpPr>
        <p:spPr>
          <a:xfrm>
            <a:off x="1143000" y="3809667"/>
            <a:ext cx="7589519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37474F"/>
                </a:solidFill>
              </a:defRPr>
            </a:lvl1pPr>
          </a:lstStyle>
          <a:p>
            <a:pPr/>
            <a:r>
              <a:t>CN alone is not sufficient. curl, Python ssl, and all modern TLS clients require the SAN field (IP:10.0.0.20 or DNS:bob.lab). Missing SAN → connection refused.</a:t>
            </a:r>
          </a:p>
        </p:txBody>
      </p:sp>
      <p:sp>
        <p:nvSpPr>
          <p:cNvPr id="175" name="Shape 19"/>
          <p:cNvSpPr/>
          <p:nvPr/>
        </p:nvSpPr>
        <p:spPr>
          <a:xfrm>
            <a:off x="256031" y="4462271"/>
            <a:ext cx="8686801" cy="502920"/>
          </a:xfrm>
          <a:prstGeom prst="rect">
            <a:avLst/>
          </a:prstGeom>
          <a:solidFill>
            <a:srgbClr val="1A2535"/>
          </a:solidFill>
          <a:ln w="1016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20"/>
          <p:cNvSpPr txBox="1"/>
          <p:nvPr/>
        </p:nvSpPr>
        <p:spPr>
          <a:xfrm>
            <a:off x="411479" y="4556759"/>
            <a:ext cx="841248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00BCD4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LIVE DEMO  </a:t>
            </a:r>
            <a:r>
              <a:rPr b="0">
                <a:solidFill>
                  <a:srgbClr val="A5D6A7"/>
                </a:solidFill>
              </a:rPr>
              <a:t>$ openssl s_client -connect google.com:443 -showcerts 2&gt;/dev/null | openssl x509 -noout -text | head -40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 1"/>
          <p:cNvSpPr txBox="1"/>
          <p:nvPr/>
        </p:nvSpPr>
        <p:spPr>
          <a:xfrm>
            <a:off x="256031" y="256676"/>
            <a:ext cx="868680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Exercise 1 — Generate CA &amp; Certificate</a:t>
            </a:r>
          </a:p>
        </p:txBody>
      </p:sp>
      <p:sp>
        <p:nvSpPr>
          <p:cNvPr id="180" name="Shape 2"/>
          <p:cNvSpPr/>
          <p:nvPr/>
        </p:nvSpPr>
        <p:spPr>
          <a:xfrm>
            <a:off x="256031" y="804672"/>
            <a:ext cx="1371601" cy="50293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Text 3"/>
          <p:cNvSpPr txBox="1"/>
          <p:nvPr/>
        </p:nvSpPr>
        <p:spPr>
          <a:xfrm>
            <a:off x="256031" y="1002714"/>
            <a:ext cx="8686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78909C"/>
                </a:solidFill>
              </a:defRPr>
            </a:lvl1pPr>
          </a:lstStyle>
          <a:p>
            <a:pPr/>
            <a:r>
              <a:t>Bob acts as both CA and server. All commands run on Bob (10.0.0.20).</a:t>
            </a:r>
          </a:p>
        </p:txBody>
      </p:sp>
      <p:sp>
        <p:nvSpPr>
          <p:cNvPr id="182" name="Shape 4"/>
          <p:cNvSpPr/>
          <p:nvPr/>
        </p:nvSpPr>
        <p:spPr>
          <a:xfrm>
            <a:off x="256032" y="1316736"/>
            <a:ext cx="4315968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</a:ln>
          <a:effectLst>
            <a:outerShdw sx="100000" sy="100000" kx="0" ky="0" algn="b" rotWithShape="0" blurRad="762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" name="Shape 5"/>
          <p:cNvSpPr/>
          <p:nvPr/>
        </p:nvSpPr>
        <p:spPr>
          <a:xfrm>
            <a:off x="256031" y="1316736"/>
            <a:ext cx="475489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6"/>
          <p:cNvSpPr txBox="1"/>
          <p:nvPr/>
        </p:nvSpPr>
        <p:spPr>
          <a:xfrm>
            <a:off x="256031" y="1480564"/>
            <a:ext cx="475489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1a</a:t>
            </a:r>
          </a:p>
        </p:txBody>
      </p:sp>
      <p:sp>
        <p:nvSpPr>
          <p:cNvPr id="185" name="Text 7"/>
          <p:cNvSpPr txBox="1"/>
          <p:nvPr/>
        </p:nvSpPr>
        <p:spPr>
          <a:xfrm>
            <a:off x="822960" y="1487346"/>
            <a:ext cx="367588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</a:defRPr>
            </a:lvl1pPr>
          </a:lstStyle>
          <a:p>
            <a:pPr/>
            <a:r>
              <a:t>Generate the CA key and self-signed certificate</a:t>
            </a:r>
          </a:p>
        </p:txBody>
      </p:sp>
      <p:sp>
        <p:nvSpPr>
          <p:cNvPr id="186" name="Shape 8"/>
          <p:cNvSpPr/>
          <p:nvPr/>
        </p:nvSpPr>
        <p:spPr>
          <a:xfrm>
            <a:off x="256032" y="1801367"/>
            <a:ext cx="4315968" cy="1216153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9"/>
          <p:cNvSpPr txBox="1"/>
          <p:nvPr/>
        </p:nvSpPr>
        <p:spPr>
          <a:xfrm>
            <a:off x="365759" y="2223516"/>
            <a:ext cx="4151378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openssl genrsa -out ca.key 4096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openssl req -new -x509 -days 365 -key ca.key \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-subj '/CN=LabCA' -out ca.cert</a:t>
            </a:r>
          </a:p>
        </p:txBody>
      </p:sp>
      <p:sp>
        <p:nvSpPr>
          <p:cNvPr id="188" name="Shape 10"/>
          <p:cNvSpPr/>
          <p:nvPr/>
        </p:nvSpPr>
        <p:spPr>
          <a:xfrm>
            <a:off x="4700015" y="1316736"/>
            <a:ext cx="4315969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</a:ln>
          <a:effectLst>
            <a:outerShdw sx="100000" sy="100000" kx="0" ky="0" algn="b" rotWithShape="0" blurRad="762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" name="Shape 11"/>
          <p:cNvSpPr/>
          <p:nvPr/>
        </p:nvSpPr>
        <p:spPr>
          <a:xfrm>
            <a:off x="4700015" y="1316736"/>
            <a:ext cx="475488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12"/>
          <p:cNvSpPr txBox="1"/>
          <p:nvPr/>
        </p:nvSpPr>
        <p:spPr>
          <a:xfrm>
            <a:off x="4700015" y="1480564"/>
            <a:ext cx="475488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1b</a:t>
            </a:r>
          </a:p>
        </p:txBody>
      </p:sp>
      <p:sp>
        <p:nvSpPr>
          <p:cNvPr id="191" name="Text 13"/>
          <p:cNvSpPr txBox="1"/>
          <p:nvPr/>
        </p:nvSpPr>
        <p:spPr>
          <a:xfrm>
            <a:off x="5266944" y="1487346"/>
            <a:ext cx="367588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</a:defRPr>
            </a:lvl1pPr>
          </a:lstStyle>
          <a:p>
            <a:pPr/>
            <a:r>
              <a:t>Generate the server key and CSR with SAN</a:t>
            </a:r>
          </a:p>
        </p:txBody>
      </p:sp>
      <p:sp>
        <p:nvSpPr>
          <p:cNvPr id="192" name="Shape 14"/>
          <p:cNvSpPr/>
          <p:nvPr/>
        </p:nvSpPr>
        <p:spPr>
          <a:xfrm>
            <a:off x="4700015" y="1801367"/>
            <a:ext cx="4315969" cy="1216153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Text 15"/>
          <p:cNvSpPr txBox="1"/>
          <p:nvPr/>
        </p:nvSpPr>
        <p:spPr>
          <a:xfrm>
            <a:off x="4809744" y="2223516"/>
            <a:ext cx="4151377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openssl genrsa -out server.key 2048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openssl req -new -key server.key \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-subj '/CN=bob.lab' -out server.csr</a:t>
            </a:r>
          </a:p>
        </p:txBody>
      </p:sp>
      <p:sp>
        <p:nvSpPr>
          <p:cNvPr id="194" name="Shape 16"/>
          <p:cNvSpPr/>
          <p:nvPr/>
        </p:nvSpPr>
        <p:spPr>
          <a:xfrm>
            <a:off x="256032" y="3127248"/>
            <a:ext cx="4315968" cy="1700785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</a:ln>
          <a:effectLst>
            <a:outerShdw sx="100000" sy="100000" kx="0" ky="0" algn="b" rotWithShape="0" blurRad="762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" name="Shape 17"/>
          <p:cNvSpPr/>
          <p:nvPr/>
        </p:nvSpPr>
        <p:spPr>
          <a:xfrm>
            <a:off x="256031" y="3127248"/>
            <a:ext cx="475489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18"/>
          <p:cNvSpPr txBox="1"/>
          <p:nvPr/>
        </p:nvSpPr>
        <p:spPr>
          <a:xfrm>
            <a:off x="256031" y="3291076"/>
            <a:ext cx="475489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1c</a:t>
            </a:r>
          </a:p>
        </p:txBody>
      </p:sp>
      <p:sp>
        <p:nvSpPr>
          <p:cNvPr id="197" name="Text 19"/>
          <p:cNvSpPr txBox="1"/>
          <p:nvPr/>
        </p:nvSpPr>
        <p:spPr>
          <a:xfrm>
            <a:off x="822960" y="3297858"/>
            <a:ext cx="367588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</a:defRPr>
            </a:lvl1pPr>
          </a:lstStyle>
          <a:p>
            <a:pPr/>
            <a:r>
              <a:t>Sign the server certificate (CN + SAN required)</a:t>
            </a:r>
          </a:p>
        </p:txBody>
      </p:sp>
      <p:sp>
        <p:nvSpPr>
          <p:cNvPr id="198" name="Shape 20"/>
          <p:cNvSpPr/>
          <p:nvPr/>
        </p:nvSpPr>
        <p:spPr>
          <a:xfrm>
            <a:off x="256032" y="3611879"/>
            <a:ext cx="4315968" cy="1216153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21"/>
          <p:cNvSpPr txBox="1"/>
          <p:nvPr/>
        </p:nvSpPr>
        <p:spPr>
          <a:xfrm>
            <a:off x="365759" y="3970528"/>
            <a:ext cx="4151378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echo "subjectAltName=IP:10.0.0.20,DNS:bob.lab" &gt; san.ext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openssl x509 -req -days 365 -in server.csr \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-CA ca.cert -CAkey ca.key -CAcreateserial \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-extfile san.ext -out server.cert</a:t>
            </a:r>
          </a:p>
        </p:txBody>
      </p:sp>
      <p:sp>
        <p:nvSpPr>
          <p:cNvPr id="200" name="Shape 22"/>
          <p:cNvSpPr/>
          <p:nvPr/>
        </p:nvSpPr>
        <p:spPr>
          <a:xfrm>
            <a:off x="4700015" y="3127248"/>
            <a:ext cx="4315969" cy="1700785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</a:ln>
          <a:effectLst>
            <a:outerShdw sx="100000" sy="100000" kx="0" ky="0" algn="b" rotWithShape="0" blurRad="762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" name="Shape 23"/>
          <p:cNvSpPr/>
          <p:nvPr/>
        </p:nvSpPr>
        <p:spPr>
          <a:xfrm>
            <a:off x="4700015" y="3127248"/>
            <a:ext cx="475488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24"/>
          <p:cNvSpPr txBox="1"/>
          <p:nvPr/>
        </p:nvSpPr>
        <p:spPr>
          <a:xfrm>
            <a:off x="4700015" y="3291076"/>
            <a:ext cx="475488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1d</a:t>
            </a:r>
          </a:p>
        </p:txBody>
      </p:sp>
      <p:sp>
        <p:nvSpPr>
          <p:cNvPr id="203" name="Text 25"/>
          <p:cNvSpPr txBox="1"/>
          <p:nvPr/>
        </p:nvSpPr>
        <p:spPr>
          <a:xfrm>
            <a:off x="5266944" y="3297858"/>
            <a:ext cx="367588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</a:defRPr>
            </a:lvl1pPr>
          </a:lstStyle>
          <a:p>
            <a:pPr/>
            <a:r>
              <a:t>Verify: Issuer, Subject, SAN</a:t>
            </a:r>
          </a:p>
        </p:txBody>
      </p:sp>
      <p:sp>
        <p:nvSpPr>
          <p:cNvPr id="204" name="Shape 26"/>
          <p:cNvSpPr/>
          <p:nvPr/>
        </p:nvSpPr>
        <p:spPr>
          <a:xfrm>
            <a:off x="4700015" y="3611879"/>
            <a:ext cx="4315969" cy="1216153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ext 27"/>
          <p:cNvSpPr txBox="1"/>
          <p:nvPr/>
        </p:nvSpPr>
        <p:spPr>
          <a:xfrm>
            <a:off x="4809744" y="4034028"/>
            <a:ext cx="4151377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openssl x509 -in ca.cert    -noout -text | grep -E 'Issuer|Subject'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openssl x509 -in server.cert -noout -text | grep -E 'Issuer|Subject|Alt'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1"/>
          <p:cNvSpPr txBox="1"/>
          <p:nvPr/>
        </p:nvSpPr>
        <p:spPr>
          <a:xfrm>
            <a:off x="256031" y="256676"/>
            <a:ext cx="868680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Exercise 2 — NGINX over HTTPS</a:t>
            </a:r>
          </a:p>
        </p:txBody>
      </p:sp>
      <p:sp>
        <p:nvSpPr>
          <p:cNvPr id="209" name="Shape 2"/>
          <p:cNvSpPr/>
          <p:nvPr/>
        </p:nvSpPr>
        <p:spPr>
          <a:xfrm>
            <a:off x="256031" y="804672"/>
            <a:ext cx="1371601" cy="50293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3"/>
          <p:cNvSpPr txBox="1"/>
          <p:nvPr/>
        </p:nvSpPr>
        <p:spPr>
          <a:xfrm>
            <a:off x="256031" y="1002714"/>
            <a:ext cx="8686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78909C"/>
                </a:solidFill>
              </a:defRPr>
            </a:lvl1pPr>
          </a:lstStyle>
          <a:p>
            <a:pPr/>
            <a:r>
              <a:t>Bob serves HTTPS on port 443. Alice (10.0.0.10) connects with curl.</a:t>
            </a:r>
          </a:p>
        </p:txBody>
      </p:sp>
      <p:sp>
        <p:nvSpPr>
          <p:cNvPr id="211" name="Shape 4"/>
          <p:cNvSpPr/>
          <p:nvPr/>
        </p:nvSpPr>
        <p:spPr>
          <a:xfrm>
            <a:off x="256031" y="1408175"/>
            <a:ext cx="475489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 5"/>
          <p:cNvSpPr txBox="1"/>
          <p:nvPr/>
        </p:nvSpPr>
        <p:spPr>
          <a:xfrm>
            <a:off x="256031" y="1572004"/>
            <a:ext cx="475489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2a</a:t>
            </a:r>
          </a:p>
        </p:txBody>
      </p:sp>
      <p:sp>
        <p:nvSpPr>
          <p:cNvPr id="213" name="Shape 6"/>
          <p:cNvSpPr/>
          <p:nvPr/>
        </p:nvSpPr>
        <p:spPr>
          <a:xfrm>
            <a:off x="804672" y="1316736"/>
            <a:ext cx="5376672" cy="822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7"/>
          <p:cNvSpPr txBox="1"/>
          <p:nvPr/>
        </p:nvSpPr>
        <p:spPr>
          <a:xfrm>
            <a:off x="914399" y="1430327"/>
            <a:ext cx="516636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D1B2A"/>
                </a:solidFill>
              </a:defRPr>
            </a:lvl1pPr>
          </a:lstStyle>
          <a:p>
            <a:pPr/>
            <a:r>
              <a:t>Copy certificates into NGINX</a:t>
            </a:r>
          </a:p>
        </p:txBody>
      </p:sp>
      <p:sp>
        <p:nvSpPr>
          <p:cNvPr id="215" name="Shape 8"/>
          <p:cNvSpPr/>
          <p:nvPr/>
        </p:nvSpPr>
        <p:spPr>
          <a:xfrm>
            <a:off x="804672" y="1664207"/>
            <a:ext cx="5376672" cy="475488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9"/>
          <p:cNvSpPr txBox="1"/>
          <p:nvPr/>
        </p:nvSpPr>
        <p:spPr>
          <a:xfrm>
            <a:off x="914399" y="1774951"/>
            <a:ext cx="516636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sudo mkdir -p /etc/nginx/ssl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sudo cp server.cert server.key /etc/nginx/ssl/</a:t>
            </a:r>
          </a:p>
        </p:txBody>
      </p:sp>
      <p:sp>
        <p:nvSpPr>
          <p:cNvPr id="217" name="Shape 10"/>
          <p:cNvSpPr/>
          <p:nvPr/>
        </p:nvSpPr>
        <p:spPr>
          <a:xfrm>
            <a:off x="256031" y="2304288"/>
            <a:ext cx="475489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11"/>
          <p:cNvSpPr txBox="1"/>
          <p:nvPr/>
        </p:nvSpPr>
        <p:spPr>
          <a:xfrm>
            <a:off x="256031" y="2468116"/>
            <a:ext cx="475489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2b</a:t>
            </a:r>
          </a:p>
        </p:txBody>
      </p:sp>
      <p:sp>
        <p:nvSpPr>
          <p:cNvPr id="219" name="Shape 12"/>
          <p:cNvSpPr/>
          <p:nvPr/>
        </p:nvSpPr>
        <p:spPr>
          <a:xfrm>
            <a:off x="804672" y="2212848"/>
            <a:ext cx="5376672" cy="822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13"/>
          <p:cNvSpPr txBox="1"/>
          <p:nvPr/>
        </p:nvSpPr>
        <p:spPr>
          <a:xfrm>
            <a:off x="914399" y="2326439"/>
            <a:ext cx="516636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D1B2A"/>
                </a:solidFill>
              </a:defRPr>
            </a:lvl1pPr>
          </a:lstStyle>
          <a:p>
            <a:pPr/>
            <a:r>
              <a:t>Edit NGINX config — enable TLS</a:t>
            </a:r>
          </a:p>
        </p:txBody>
      </p:sp>
      <p:sp>
        <p:nvSpPr>
          <p:cNvPr id="221" name="Shape 14"/>
          <p:cNvSpPr/>
          <p:nvPr/>
        </p:nvSpPr>
        <p:spPr>
          <a:xfrm>
            <a:off x="804672" y="2560320"/>
            <a:ext cx="5376672" cy="475488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15"/>
          <p:cNvSpPr txBox="1"/>
          <p:nvPr/>
        </p:nvSpPr>
        <p:spPr>
          <a:xfrm>
            <a:off x="914399" y="2607563"/>
            <a:ext cx="516636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listen 443 ssl;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ssl_certificate     /etc/nginx/ssl/server.cert;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ssl_certificate_key /etc/nginx/ssl/server.key;</a:t>
            </a:r>
          </a:p>
        </p:txBody>
      </p:sp>
      <p:sp>
        <p:nvSpPr>
          <p:cNvPr id="223" name="Shape 16"/>
          <p:cNvSpPr/>
          <p:nvPr/>
        </p:nvSpPr>
        <p:spPr>
          <a:xfrm>
            <a:off x="256031" y="3200400"/>
            <a:ext cx="475489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17"/>
          <p:cNvSpPr txBox="1"/>
          <p:nvPr/>
        </p:nvSpPr>
        <p:spPr>
          <a:xfrm>
            <a:off x="256031" y="3364228"/>
            <a:ext cx="475489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2c</a:t>
            </a:r>
          </a:p>
        </p:txBody>
      </p:sp>
      <p:sp>
        <p:nvSpPr>
          <p:cNvPr id="225" name="Shape 18"/>
          <p:cNvSpPr/>
          <p:nvPr/>
        </p:nvSpPr>
        <p:spPr>
          <a:xfrm>
            <a:off x="804672" y="3108960"/>
            <a:ext cx="5376672" cy="822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19"/>
          <p:cNvSpPr txBox="1"/>
          <p:nvPr/>
        </p:nvSpPr>
        <p:spPr>
          <a:xfrm>
            <a:off x="914399" y="3222551"/>
            <a:ext cx="516636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D1B2A"/>
                </a:solidFill>
              </a:defRPr>
            </a:lvl1pPr>
          </a:lstStyle>
          <a:p>
            <a:pPr/>
            <a:r>
              <a:t>Transfer ca.cert from Bob to Alice</a:t>
            </a:r>
          </a:p>
        </p:txBody>
      </p:sp>
      <p:sp>
        <p:nvSpPr>
          <p:cNvPr id="227" name="Shape 20"/>
          <p:cNvSpPr/>
          <p:nvPr/>
        </p:nvSpPr>
        <p:spPr>
          <a:xfrm>
            <a:off x="804672" y="3456432"/>
            <a:ext cx="5376672" cy="475488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21"/>
          <p:cNvSpPr txBox="1"/>
          <p:nvPr/>
        </p:nvSpPr>
        <p:spPr>
          <a:xfrm>
            <a:off x="914399" y="3567176"/>
            <a:ext cx="516636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Bob:   python3 -m http.server 5000 --directory ~/lab03/cert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Alice: wget http://10.0.0.20:5000/ca.cert</a:t>
            </a:r>
          </a:p>
        </p:txBody>
      </p:sp>
      <p:sp>
        <p:nvSpPr>
          <p:cNvPr id="229" name="Shape 22"/>
          <p:cNvSpPr/>
          <p:nvPr/>
        </p:nvSpPr>
        <p:spPr>
          <a:xfrm>
            <a:off x="256031" y="4096511"/>
            <a:ext cx="475489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23"/>
          <p:cNvSpPr txBox="1"/>
          <p:nvPr/>
        </p:nvSpPr>
        <p:spPr>
          <a:xfrm>
            <a:off x="256031" y="4260340"/>
            <a:ext cx="475489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2d</a:t>
            </a:r>
          </a:p>
        </p:txBody>
      </p:sp>
      <p:sp>
        <p:nvSpPr>
          <p:cNvPr id="231" name="Shape 24"/>
          <p:cNvSpPr/>
          <p:nvPr/>
        </p:nvSpPr>
        <p:spPr>
          <a:xfrm>
            <a:off x="804672" y="4005071"/>
            <a:ext cx="5376672" cy="822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25"/>
          <p:cNvSpPr txBox="1"/>
          <p:nvPr/>
        </p:nvSpPr>
        <p:spPr>
          <a:xfrm>
            <a:off x="914399" y="4118663"/>
            <a:ext cx="516636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D1B2A"/>
                </a:solidFill>
              </a:defRPr>
            </a:lvl1pPr>
          </a:lstStyle>
          <a:p>
            <a:pPr/>
            <a:r>
              <a:t>Test from Alice — with and without CA</a:t>
            </a:r>
          </a:p>
        </p:txBody>
      </p:sp>
      <p:sp>
        <p:nvSpPr>
          <p:cNvPr id="233" name="Shape 26"/>
          <p:cNvSpPr/>
          <p:nvPr/>
        </p:nvSpPr>
        <p:spPr>
          <a:xfrm>
            <a:off x="804672" y="4352544"/>
            <a:ext cx="5376672" cy="475488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27"/>
          <p:cNvSpPr txBox="1"/>
          <p:nvPr/>
        </p:nvSpPr>
        <p:spPr>
          <a:xfrm>
            <a:off x="914399" y="4463288"/>
            <a:ext cx="516636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curl https://10.0.0.20          # exit 60 — untrusted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curl --cacert ca.cert https://10.0.0.20  # OK</a:t>
            </a:r>
          </a:p>
        </p:txBody>
      </p:sp>
      <p:sp>
        <p:nvSpPr>
          <p:cNvPr id="235" name="Shape 28"/>
          <p:cNvSpPr/>
          <p:nvPr/>
        </p:nvSpPr>
        <p:spPr>
          <a:xfrm>
            <a:off x="6345935" y="1316736"/>
            <a:ext cx="2596897" cy="3566160"/>
          </a:xfrm>
          <a:prstGeom prst="rect">
            <a:avLst/>
          </a:prstGeom>
          <a:solidFill>
            <a:srgbClr val="2D3748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Text 29"/>
          <p:cNvSpPr txBox="1"/>
          <p:nvPr/>
        </p:nvSpPr>
        <p:spPr>
          <a:xfrm>
            <a:off x="6473952" y="1494335"/>
            <a:ext cx="234086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0BCD4"/>
                </a:solidFill>
              </a:defRPr>
            </a:lvl1pPr>
          </a:lstStyle>
          <a:p>
            <a:pPr/>
            <a:r>
              <a:t>What to expect</a:t>
            </a:r>
          </a:p>
        </p:txBody>
      </p:sp>
      <p:sp>
        <p:nvSpPr>
          <p:cNvPr id="237" name="Shape 30"/>
          <p:cNvSpPr/>
          <p:nvPr/>
        </p:nvSpPr>
        <p:spPr>
          <a:xfrm>
            <a:off x="6437376" y="1828800"/>
            <a:ext cx="2395729" cy="868681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31"/>
          <p:cNvSpPr txBox="1"/>
          <p:nvPr/>
        </p:nvSpPr>
        <p:spPr>
          <a:xfrm>
            <a:off x="6528816" y="1952288"/>
            <a:ext cx="2231137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curl without CA: exit 60</a:t>
            </a:r>
          </a:p>
        </p:txBody>
      </p:sp>
      <p:sp>
        <p:nvSpPr>
          <p:cNvPr id="239" name="Text 32"/>
          <p:cNvSpPr txBox="1"/>
          <p:nvPr/>
        </p:nvSpPr>
        <p:spPr>
          <a:xfrm>
            <a:off x="6528816" y="2277785"/>
            <a:ext cx="2231137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0BEC5"/>
                </a:solidFill>
              </a:defRPr>
            </a:lvl1pPr>
          </a:lstStyle>
          <a:p>
            <a:pPr/>
            <a:r>
              <a:t>SSL certificate problem: unable to get local issuer certificate</a:t>
            </a:r>
          </a:p>
        </p:txBody>
      </p:sp>
      <p:sp>
        <p:nvSpPr>
          <p:cNvPr id="240" name="Shape 33"/>
          <p:cNvSpPr/>
          <p:nvPr/>
        </p:nvSpPr>
        <p:spPr>
          <a:xfrm>
            <a:off x="6437376" y="2834639"/>
            <a:ext cx="2395729" cy="868681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34"/>
          <p:cNvSpPr txBox="1"/>
          <p:nvPr/>
        </p:nvSpPr>
        <p:spPr>
          <a:xfrm>
            <a:off x="6528816" y="2958128"/>
            <a:ext cx="2231137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 curl --cacert: 200 OK</a:t>
            </a:r>
          </a:p>
        </p:txBody>
      </p:sp>
      <p:sp>
        <p:nvSpPr>
          <p:cNvPr id="242" name="Text 35"/>
          <p:cNvSpPr txBox="1"/>
          <p:nvPr/>
        </p:nvSpPr>
        <p:spPr>
          <a:xfrm>
            <a:off x="6528816" y="3283625"/>
            <a:ext cx="2231137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0BEC5"/>
                </a:solidFill>
              </a:defRPr>
            </a:lvl1pPr>
          </a:lstStyle>
          <a:p>
            <a:pPr/>
            <a:r>
              <a:t>TLS verified. openssl s_client shows TLSv1.3, Verify return code: 0</a:t>
            </a:r>
          </a:p>
        </p:txBody>
      </p:sp>
      <p:sp>
        <p:nvSpPr>
          <p:cNvPr id="243" name="Shape 36"/>
          <p:cNvSpPr/>
          <p:nvPr/>
        </p:nvSpPr>
        <p:spPr>
          <a:xfrm>
            <a:off x="6437376" y="3840479"/>
            <a:ext cx="2395729" cy="868681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Text 37"/>
          <p:cNvSpPr txBox="1"/>
          <p:nvPr/>
        </p:nvSpPr>
        <p:spPr>
          <a:xfrm>
            <a:off x="6528816" y="3963968"/>
            <a:ext cx="2231137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TLS vs CryptoCat</a:t>
            </a:r>
          </a:p>
        </p:txBody>
      </p:sp>
      <p:sp>
        <p:nvSpPr>
          <p:cNvPr id="245" name="Text 38"/>
          <p:cNvSpPr txBox="1"/>
          <p:nvPr/>
        </p:nvSpPr>
        <p:spPr>
          <a:xfrm>
            <a:off x="6528816" y="4289465"/>
            <a:ext cx="2231137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0BEC5"/>
                </a:solidFill>
              </a:defRPr>
            </a:lvl1pPr>
          </a:lstStyle>
          <a:p>
            <a:pPr/>
            <a:r>
              <a:t>CryptoCat encrypted the payload only. TLS encrypts the entire channel at transport layer.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Text 1"/>
          <p:cNvSpPr txBox="1"/>
          <p:nvPr/>
        </p:nvSpPr>
        <p:spPr>
          <a:xfrm>
            <a:off x="256031" y="256676"/>
            <a:ext cx="868680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Exercise 3 — TLS Socket in Python (a–d)</a:t>
            </a:r>
          </a:p>
        </p:txBody>
      </p:sp>
      <p:sp>
        <p:nvSpPr>
          <p:cNvPr id="249" name="Shape 2"/>
          <p:cNvSpPr/>
          <p:nvPr/>
        </p:nvSpPr>
        <p:spPr>
          <a:xfrm>
            <a:off x="256031" y="804672"/>
            <a:ext cx="1371601" cy="50293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Text 3"/>
          <p:cNvSpPr txBox="1"/>
          <p:nvPr/>
        </p:nvSpPr>
        <p:spPr>
          <a:xfrm>
            <a:off x="256031" y="1002714"/>
            <a:ext cx="8686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78909C"/>
                </a:solidFill>
              </a:defRPr>
            </a:lvl1pPr>
          </a:lstStyle>
          <a:p>
            <a:pPr/>
            <a:r>
              <a:t>No skeleton code provided. Find ssl.create_default_context, ssl.Purpose, load_cert_chain, wrap_socket.</a:t>
            </a:r>
          </a:p>
        </p:txBody>
      </p:sp>
      <p:sp>
        <p:nvSpPr>
          <p:cNvPr id="251" name="Shape 4"/>
          <p:cNvSpPr/>
          <p:nvPr/>
        </p:nvSpPr>
        <p:spPr>
          <a:xfrm>
            <a:off x="256032" y="1316736"/>
            <a:ext cx="4315968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</a:ln>
          <a:effectLst>
            <a:outerShdw sx="100000" sy="100000" kx="0" ky="0" algn="b" rotWithShape="0" blurRad="762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" name="Shape 5"/>
          <p:cNvSpPr/>
          <p:nvPr/>
        </p:nvSpPr>
        <p:spPr>
          <a:xfrm>
            <a:off x="256031" y="1316736"/>
            <a:ext cx="475489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6"/>
          <p:cNvSpPr txBox="1"/>
          <p:nvPr/>
        </p:nvSpPr>
        <p:spPr>
          <a:xfrm>
            <a:off x="256031" y="1480564"/>
            <a:ext cx="475489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3a</a:t>
            </a:r>
          </a:p>
        </p:txBody>
      </p:sp>
      <p:sp>
        <p:nvSpPr>
          <p:cNvPr id="254" name="Text 7"/>
          <p:cNvSpPr txBox="1"/>
          <p:nvPr/>
        </p:nvSpPr>
        <p:spPr>
          <a:xfrm>
            <a:off x="822960" y="1487346"/>
            <a:ext cx="367588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</a:defRPr>
            </a:lvl1pPr>
          </a:lstStyle>
          <a:p>
            <a:pPr/>
            <a:r>
              <a:t>ES03a — TLS echo server on Bob</a:t>
            </a:r>
          </a:p>
        </p:txBody>
      </p:sp>
      <p:sp>
        <p:nvSpPr>
          <p:cNvPr id="255" name="Shape 8"/>
          <p:cNvSpPr/>
          <p:nvPr/>
        </p:nvSpPr>
        <p:spPr>
          <a:xfrm>
            <a:off x="256032" y="1801367"/>
            <a:ext cx="4315968" cy="1216153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9"/>
          <p:cNvSpPr txBox="1"/>
          <p:nvPr/>
        </p:nvSpPr>
        <p:spPr>
          <a:xfrm>
            <a:off x="365759" y="2177033"/>
            <a:ext cx="4133089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Bob: ssl.SSLContext(PURPOSE.CLIENT_AUTH)</a:t>
            </a:r>
          </a:p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load_cert_chain(server.cert, server.key)</a:t>
            </a:r>
          </a:p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wrap_socket(sock, server_side=True)</a:t>
            </a:r>
          </a:p>
        </p:txBody>
      </p:sp>
      <p:sp>
        <p:nvSpPr>
          <p:cNvPr id="257" name="Shape 10"/>
          <p:cNvSpPr/>
          <p:nvPr/>
        </p:nvSpPr>
        <p:spPr>
          <a:xfrm>
            <a:off x="4700015" y="1316736"/>
            <a:ext cx="4315969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</a:ln>
          <a:effectLst>
            <a:outerShdw sx="100000" sy="100000" kx="0" ky="0" algn="b" rotWithShape="0" blurRad="762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" name="Shape 11"/>
          <p:cNvSpPr/>
          <p:nvPr/>
        </p:nvSpPr>
        <p:spPr>
          <a:xfrm>
            <a:off x="4700015" y="1316736"/>
            <a:ext cx="475488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Text 12"/>
          <p:cNvSpPr txBox="1"/>
          <p:nvPr/>
        </p:nvSpPr>
        <p:spPr>
          <a:xfrm>
            <a:off x="4700015" y="1480564"/>
            <a:ext cx="475488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3b</a:t>
            </a:r>
          </a:p>
        </p:txBody>
      </p:sp>
      <p:sp>
        <p:nvSpPr>
          <p:cNvPr id="260" name="Text 13"/>
          <p:cNvSpPr txBox="1"/>
          <p:nvPr/>
        </p:nvSpPr>
        <p:spPr>
          <a:xfrm>
            <a:off x="5266944" y="1487346"/>
            <a:ext cx="367588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</a:defRPr>
            </a:lvl1pPr>
          </a:lstStyle>
          <a:p>
            <a:pPr/>
            <a:r>
              <a:t>ES03b — TLS client on Alice</a:t>
            </a:r>
          </a:p>
        </p:txBody>
      </p:sp>
      <p:sp>
        <p:nvSpPr>
          <p:cNvPr id="261" name="Shape 14"/>
          <p:cNvSpPr/>
          <p:nvPr/>
        </p:nvSpPr>
        <p:spPr>
          <a:xfrm>
            <a:off x="4700015" y="1801367"/>
            <a:ext cx="4315969" cy="1216153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15"/>
          <p:cNvSpPr txBox="1"/>
          <p:nvPr/>
        </p:nvSpPr>
        <p:spPr>
          <a:xfrm>
            <a:off x="4809744" y="2177033"/>
            <a:ext cx="4133089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Alice: ssl.create_default_context()</a:t>
            </a:r>
          </a:p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load_verify_locations(ca.cert)</a:t>
            </a:r>
          </a:p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wrap_socket(sock, server_hostname='bob.lab')</a:t>
            </a:r>
          </a:p>
        </p:txBody>
      </p:sp>
      <p:sp>
        <p:nvSpPr>
          <p:cNvPr id="263" name="Shape 16"/>
          <p:cNvSpPr/>
          <p:nvPr/>
        </p:nvSpPr>
        <p:spPr>
          <a:xfrm>
            <a:off x="256032" y="3127248"/>
            <a:ext cx="4315968" cy="1700785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</a:ln>
          <a:effectLst>
            <a:outerShdw sx="100000" sy="100000" kx="0" ky="0" algn="b" rotWithShape="0" blurRad="762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" name="Shape 17"/>
          <p:cNvSpPr/>
          <p:nvPr/>
        </p:nvSpPr>
        <p:spPr>
          <a:xfrm>
            <a:off x="256031" y="3127248"/>
            <a:ext cx="475489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Text 18"/>
          <p:cNvSpPr txBox="1"/>
          <p:nvPr/>
        </p:nvSpPr>
        <p:spPr>
          <a:xfrm>
            <a:off x="256031" y="3291076"/>
            <a:ext cx="475489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3c</a:t>
            </a:r>
          </a:p>
        </p:txBody>
      </p:sp>
      <p:sp>
        <p:nvSpPr>
          <p:cNvPr id="266" name="Text 19"/>
          <p:cNvSpPr txBox="1"/>
          <p:nvPr/>
        </p:nvSpPr>
        <p:spPr>
          <a:xfrm>
            <a:off x="822960" y="3297858"/>
            <a:ext cx="367588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</a:defRPr>
            </a:lvl1pPr>
          </a:lstStyle>
          <a:p>
            <a:pPr/>
            <a:r>
              <a:t>ES03c — Wireshark comparison</a:t>
            </a:r>
          </a:p>
        </p:txBody>
      </p:sp>
      <p:sp>
        <p:nvSpPr>
          <p:cNvPr id="267" name="Shape 20"/>
          <p:cNvSpPr/>
          <p:nvPr/>
        </p:nvSpPr>
        <p:spPr>
          <a:xfrm>
            <a:off x="256032" y="3611879"/>
            <a:ext cx="4315968" cy="1216153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21"/>
          <p:cNvSpPr txBox="1"/>
          <p:nvPr/>
        </p:nvSpPr>
        <p:spPr>
          <a:xfrm>
            <a:off x="365759" y="3987545"/>
            <a:ext cx="4133089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Replace switch with hub in GNS3.</a:t>
            </a:r>
          </a:p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Darth captures traffic: opaque TLS records.</a:t>
            </a:r>
          </a:p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Compare with Lab 02 CryptoCat plaintext.</a:t>
            </a:r>
          </a:p>
        </p:txBody>
      </p:sp>
      <p:sp>
        <p:nvSpPr>
          <p:cNvPr id="269" name="Shape 22"/>
          <p:cNvSpPr/>
          <p:nvPr/>
        </p:nvSpPr>
        <p:spPr>
          <a:xfrm>
            <a:off x="4700015" y="3127248"/>
            <a:ext cx="4315969" cy="1700785"/>
          </a:xfrm>
          <a:prstGeom prst="rect">
            <a:avLst/>
          </a:prstGeom>
          <a:solidFill>
            <a:srgbClr val="FFFFFF"/>
          </a:solidFill>
          <a:ln w="10160">
            <a:solidFill>
              <a:srgbClr val="D0D7DE"/>
            </a:solidFill>
          </a:ln>
          <a:effectLst>
            <a:outerShdw sx="100000" sy="100000" kx="0" ky="0" algn="b" rotWithShape="0" blurRad="76200" dist="25400" dir="81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" name="Shape 23"/>
          <p:cNvSpPr/>
          <p:nvPr/>
        </p:nvSpPr>
        <p:spPr>
          <a:xfrm>
            <a:off x="4700015" y="3127248"/>
            <a:ext cx="475488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Text 24"/>
          <p:cNvSpPr txBox="1"/>
          <p:nvPr/>
        </p:nvSpPr>
        <p:spPr>
          <a:xfrm>
            <a:off x="4700015" y="3291076"/>
            <a:ext cx="475488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3d</a:t>
            </a:r>
          </a:p>
        </p:txBody>
      </p:sp>
      <p:sp>
        <p:nvSpPr>
          <p:cNvPr id="272" name="Text 25"/>
          <p:cNvSpPr txBox="1"/>
          <p:nvPr/>
        </p:nvSpPr>
        <p:spPr>
          <a:xfrm>
            <a:off x="5266944" y="3297858"/>
            <a:ext cx="367588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</a:defRPr>
            </a:lvl1pPr>
          </a:lstStyle>
          <a:p>
            <a:pPr/>
            <a:r>
              <a:t>ES03d — Untrusted CA</a:t>
            </a:r>
          </a:p>
        </p:txBody>
      </p:sp>
      <p:sp>
        <p:nvSpPr>
          <p:cNvPr id="273" name="Shape 26"/>
          <p:cNvSpPr/>
          <p:nvPr/>
        </p:nvSpPr>
        <p:spPr>
          <a:xfrm>
            <a:off x="4700015" y="3611879"/>
            <a:ext cx="4315969" cy="1216153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Text 27"/>
          <p:cNvSpPr txBox="1"/>
          <p:nvPr/>
        </p:nvSpPr>
        <p:spPr>
          <a:xfrm>
            <a:off x="4809744" y="3987545"/>
            <a:ext cx="4133089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Alice connects without --cacert / ca.cert.</a:t>
            </a:r>
          </a:p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Expected: SSLCertVerificationError</a:t>
            </a:r>
          </a:p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Bob log: TLSV1_ALERT_UNKNOWN_CA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Text 1"/>
          <p:cNvSpPr txBox="1"/>
          <p:nvPr/>
        </p:nvSpPr>
        <p:spPr>
          <a:xfrm>
            <a:off x="256031" y="274964"/>
            <a:ext cx="868680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Exercise 3e — MITM with Darth</a:t>
            </a:r>
          </a:p>
        </p:txBody>
      </p:sp>
      <p:sp>
        <p:nvSpPr>
          <p:cNvPr id="278" name="Shape 2"/>
          <p:cNvSpPr/>
          <p:nvPr/>
        </p:nvSpPr>
        <p:spPr>
          <a:xfrm>
            <a:off x="256031" y="822960"/>
            <a:ext cx="1371601" cy="50293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Text 3"/>
          <p:cNvSpPr txBox="1"/>
          <p:nvPr/>
        </p:nvSpPr>
        <p:spPr>
          <a:xfrm>
            <a:off x="256031" y="1000559"/>
            <a:ext cx="86868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78909C"/>
                </a:solidFill>
              </a:defRPr>
            </a:lvl1pPr>
          </a:lstStyle>
          <a:p>
            <a:pPr/>
            <a:r>
              <a:t>Darth implements a transparent TLS proxy between Alice and Bob. Start order: Bob → Darth → Alice.</a:t>
            </a:r>
          </a:p>
        </p:txBody>
      </p:sp>
      <p:sp>
        <p:nvSpPr>
          <p:cNvPr id="280" name="Shape 4"/>
          <p:cNvSpPr/>
          <p:nvPr/>
        </p:nvSpPr>
        <p:spPr>
          <a:xfrm>
            <a:off x="256032" y="1371600"/>
            <a:ext cx="4315968" cy="1600200"/>
          </a:xfrm>
          <a:prstGeom prst="rect">
            <a:avLst/>
          </a:prstGeom>
          <a:solidFill>
            <a:srgbClr val="2D3748"/>
          </a:solidFill>
          <a:ln w="15240">
            <a:solidFill>
              <a:srgbClr val="B71C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Shape 5"/>
          <p:cNvSpPr/>
          <p:nvPr/>
        </p:nvSpPr>
        <p:spPr>
          <a:xfrm>
            <a:off x="256031" y="1371600"/>
            <a:ext cx="530353" cy="43891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Text 6"/>
          <p:cNvSpPr txBox="1"/>
          <p:nvPr/>
        </p:nvSpPr>
        <p:spPr>
          <a:xfrm>
            <a:off x="256031" y="1517141"/>
            <a:ext cx="530353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83" name="Text 7"/>
          <p:cNvSpPr txBox="1"/>
          <p:nvPr/>
        </p:nvSpPr>
        <p:spPr>
          <a:xfrm>
            <a:off x="877824" y="1523922"/>
            <a:ext cx="362102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Darth generates a fake CA + fake cert</a:t>
            </a:r>
          </a:p>
        </p:txBody>
      </p:sp>
      <p:sp>
        <p:nvSpPr>
          <p:cNvPr id="284" name="Shape 8"/>
          <p:cNvSpPr/>
          <p:nvPr/>
        </p:nvSpPr>
        <p:spPr>
          <a:xfrm>
            <a:off x="256032" y="1828800"/>
            <a:ext cx="4315968" cy="114300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Text 9"/>
          <p:cNvSpPr txBox="1"/>
          <p:nvPr/>
        </p:nvSpPr>
        <p:spPr>
          <a:xfrm>
            <a:off x="365759" y="2186177"/>
            <a:ext cx="415137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openssl genrsa -out darth_ca.key 2048</a:t>
            </a:r>
          </a:p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openssl req -new -x509 -key darth_ca.key -out darth_ca.cert</a:t>
            </a:r>
          </a:p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→ Sign a fake cert for CN=bob.lab / IP:10.0.0.20</a:t>
            </a:r>
          </a:p>
        </p:txBody>
      </p:sp>
      <p:sp>
        <p:nvSpPr>
          <p:cNvPr id="286" name="Shape 10"/>
          <p:cNvSpPr/>
          <p:nvPr/>
        </p:nvSpPr>
        <p:spPr>
          <a:xfrm>
            <a:off x="4700015" y="1371600"/>
            <a:ext cx="4315969" cy="1600200"/>
          </a:xfrm>
          <a:prstGeom prst="rect">
            <a:avLst/>
          </a:prstGeom>
          <a:solidFill>
            <a:srgbClr val="2D3748"/>
          </a:solidFill>
          <a:ln w="15240">
            <a:solidFill>
              <a:srgbClr val="E651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Shape 11"/>
          <p:cNvSpPr/>
          <p:nvPr/>
        </p:nvSpPr>
        <p:spPr>
          <a:xfrm>
            <a:off x="4700015" y="1371600"/>
            <a:ext cx="530353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Text 12"/>
          <p:cNvSpPr txBox="1"/>
          <p:nvPr/>
        </p:nvSpPr>
        <p:spPr>
          <a:xfrm>
            <a:off x="4700015" y="1517141"/>
            <a:ext cx="530353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89" name="Text 13"/>
          <p:cNvSpPr txBox="1"/>
          <p:nvPr/>
        </p:nvSpPr>
        <p:spPr>
          <a:xfrm>
            <a:off x="5321808" y="1523922"/>
            <a:ext cx="362102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Darth proxies: Alice → Darth → Bob</a:t>
            </a:r>
          </a:p>
        </p:txBody>
      </p:sp>
      <p:sp>
        <p:nvSpPr>
          <p:cNvPr id="290" name="Shape 14"/>
          <p:cNvSpPr/>
          <p:nvPr/>
        </p:nvSpPr>
        <p:spPr>
          <a:xfrm>
            <a:off x="4700015" y="1828800"/>
            <a:ext cx="4315969" cy="114300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Text 15"/>
          <p:cNvSpPr txBox="1"/>
          <p:nvPr/>
        </p:nvSpPr>
        <p:spPr>
          <a:xfrm>
            <a:off x="4809744" y="2186177"/>
            <a:ext cx="4151377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es03_mitm.py: two threads, two ssl contexts.</a:t>
            </a:r>
          </a:p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One context toward Bob (uses ca.cert).</a:t>
            </a:r>
          </a:p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One context toward Alice (uses fake cert).</a:t>
            </a:r>
          </a:p>
        </p:txBody>
      </p:sp>
      <p:sp>
        <p:nvSpPr>
          <p:cNvPr id="292" name="Shape 16"/>
          <p:cNvSpPr/>
          <p:nvPr/>
        </p:nvSpPr>
        <p:spPr>
          <a:xfrm>
            <a:off x="256032" y="3090672"/>
            <a:ext cx="4315968" cy="1600201"/>
          </a:xfrm>
          <a:prstGeom prst="rect">
            <a:avLst/>
          </a:prstGeom>
          <a:solidFill>
            <a:srgbClr val="2D3748"/>
          </a:solidFill>
          <a:ln w="15240">
            <a:solidFill>
              <a:srgbClr val="6A1B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Shape 17"/>
          <p:cNvSpPr/>
          <p:nvPr/>
        </p:nvSpPr>
        <p:spPr>
          <a:xfrm>
            <a:off x="256031" y="3090672"/>
            <a:ext cx="530353" cy="43891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Text 18"/>
          <p:cNvSpPr txBox="1"/>
          <p:nvPr/>
        </p:nvSpPr>
        <p:spPr>
          <a:xfrm>
            <a:off x="256031" y="3236213"/>
            <a:ext cx="530353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CP1</a:t>
            </a:r>
          </a:p>
        </p:txBody>
      </p:sp>
      <p:sp>
        <p:nvSpPr>
          <p:cNvPr id="295" name="Text 19"/>
          <p:cNvSpPr txBox="1"/>
          <p:nvPr/>
        </p:nvSpPr>
        <p:spPr>
          <a:xfrm>
            <a:off x="877824" y="3242993"/>
            <a:ext cx="362102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Checkpoint 1 — Alice rejects the connection</a:t>
            </a:r>
          </a:p>
        </p:txBody>
      </p:sp>
      <p:sp>
        <p:nvSpPr>
          <p:cNvPr id="296" name="Shape 20"/>
          <p:cNvSpPr/>
          <p:nvPr/>
        </p:nvSpPr>
        <p:spPr>
          <a:xfrm>
            <a:off x="256032" y="3547871"/>
            <a:ext cx="4315968" cy="1143001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Text 21"/>
          <p:cNvSpPr txBox="1"/>
          <p:nvPr/>
        </p:nvSpPr>
        <p:spPr>
          <a:xfrm>
            <a:off x="365759" y="3835399"/>
            <a:ext cx="415137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SSLCertVerificationError: darth_ca.cert is not in Alice's trust store.</a:t>
            </a:r>
          </a:p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The math is fine — trust failed.</a:t>
            </a:r>
          </a:p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Alice's CA bundle blocked Darth, not AES.</a:t>
            </a:r>
          </a:p>
        </p:txBody>
      </p:sp>
      <p:sp>
        <p:nvSpPr>
          <p:cNvPr id="298" name="Shape 22"/>
          <p:cNvSpPr/>
          <p:nvPr/>
        </p:nvSpPr>
        <p:spPr>
          <a:xfrm>
            <a:off x="4700015" y="3090672"/>
            <a:ext cx="4315969" cy="1600201"/>
          </a:xfrm>
          <a:prstGeom prst="rect">
            <a:avLst/>
          </a:prstGeom>
          <a:solidFill>
            <a:srgbClr val="2D3748"/>
          </a:solidFill>
          <a:ln w="15240">
            <a:solidFill>
              <a:srgbClr val="2E7D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Shape 23"/>
          <p:cNvSpPr/>
          <p:nvPr/>
        </p:nvSpPr>
        <p:spPr>
          <a:xfrm>
            <a:off x="4700015" y="3090672"/>
            <a:ext cx="530353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Text 24"/>
          <p:cNvSpPr txBox="1"/>
          <p:nvPr/>
        </p:nvSpPr>
        <p:spPr>
          <a:xfrm>
            <a:off x="4700015" y="3236213"/>
            <a:ext cx="530353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CP2</a:t>
            </a:r>
          </a:p>
        </p:txBody>
      </p:sp>
      <p:sp>
        <p:nvSpPr>
          <p:cNvPr id="301" name="Text 25"/>
          <p:cNvSpPr txBox="1"/>
          <p:nvPr/>
        </p:nvSpPr>
        <p:spPr>
          <a:xfrm>
            <a:off x="5321808" y="3242993"/>
            <a:ext cx="362102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Checkpoint 2 — Alice uses ssl.CERT_NONE</a:t>
            </a:r>
          </a:p>
        </p:txBody>
      </p:sp>
      <p:sp>
        <p:nvSpPr>
          <p:cNvPr id="302" name="Shape 26"/>
          <p:cNvSpPr/>
          <p:nvPr/>
        </p:nvSpPr>
        <p:spPr>
          <a:xfrm>
            <a:off x="4700015" y="3547871"/>
            <a:ext cx="4315969" cy="1143001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Text 27"/>
          <p:cNvSpPr txBox="1"/>
          <p:nvPr/>
        </p:nvSpPr>
        <p:spPr>
          <a:xfrm>
            <a:off x="4809744" y="3905249"/>
            <a:ext cx="4151377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Alice disables verification (= 'proceed anyway').</a:t>
            </a:r>
          </a:p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Darth reads every message in plaintext.</a:t>
            </a:r>
          </a:p>
          <a:p>
            <a:pPr>
              <a:defRPr sz="9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Real-world equivalent: ignoring browser warnings.</a:t>
            </a:r>
          </a:p>
        </p:txBody>
      </p:sp>
      <p:sp>
        <p:nvSpPr>
          <p:cNvPr id="304" name="Shape 28"/>
          <p:cNvSpPr/>
          <p:nvPr/>
        </p:nvSpPr>
        <p:spPr>
          <a:xfrm>
            <a:off x="256031" y="4736591"/>
            <a:ext cx="8686801" cy="347473"/>
          </a:xfrm>
          <a:prstGeom prst="rect">
            <a:avLst/>
          </a:prstGeom>
          <a:solidFill>
            <a:srgbClr val="2D3748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Text 29"/>
          <p:cNvSpPr txBox="1"/>
          <p:nvPr/>
        </p:nvSpPr>
        <p:spPr>
          <a:xfrm>
            <a:off x="384047" y="4759242"/>
            <a:ext cx="841248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00BCD4"/>
                </a:solidFill>
              </a:defRPr>
            </a:pPr>
            <a:r>
              <a:t>Key insight: </a:t>
            </a:r>
            <a:r>
              <a:rPr b="0">
                <a:solidFill>
                  <a:srgbClr val="FFFFFF"/>
                </a:solidFill>
              </a:rPr>
              <a:t>Certificate validation is a trust decision, not a crypto operation. Darth's proxy is mathematically perfect — Alice's CA bundle is the only thing that stops the attack.</a:t>
            </a:r>
          </a:p>
        </p:txBody>
      </p:sp>
      <p:sp>
        <p:nvSpPr>
          <p:cNvPr id="306" name="Shape 30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A1523"/>
          </a:solidFill>
          <a:ln w="12700">
            <a:solidFill>
              <a:srgbClr val="0A152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Text 31"/>
          <p:cNvSpPr txBox="1"/>
          <p:nvPr/>
        </p:nvSpPr>
        <p:spPr>
          <a:xfrm>
            <a:off x="182879" y="4938268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8909C"/>
                </a:solidFill>
              </a:defRPr>
            </a:lvl1pPr>
          </a:lstStyle>
          <a:p>
            <a:pPr/>
            <a:r>
              <a:t>University of Calabria  ·  DeMaCS  ·  A.Y. 2025/2026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Text 1"/>
          <p:cNvSpPr txBox="1"/>
          <p:nvPr/>
        </p:nvSpPr>
        <p:spPr>
          <a:xfrm>
            <a:off x="256031" y="274964"/>
            <a:ext cx="868680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Exercise 4 — Let's Encrypt</a:t>
            </a:r>
          </a:p>
        </p:txBody>
      </p:sp>
      <p:sp>
        <p:nvSpPr>
          <p:cNvPr id="311" name="Shape 2"/>
          <p:cNvSpPr/>
          <p:nvPr/>
        </p:nvSpPr>
        <p:spPr>
          <a:xfrm>
            <a:off x="256031" y="822960"/>
            <a:ext cx="1371601" cy="50293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Text 3"/>
          <p:cNvSpPr txBox="1"/>
          <p:nvPr/>
        </p:nvSpPr>
        <p:spPr>
          <a:xfrm>
            <a:off x="256031" y="1000559"/>
            <a:ext cx="86868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78909C"/>
                </a:solidFill>
              </a:defRPr>
            </a:lvl1pPr>
          </a:lstStyle>
          <a:p>
            <a:pPr/>
            <a:r>
              <a:t>A real, publicly trusted CA. No manual trust configuration needed — it's already in every OS and browser.</a:t>
            </a:r>
          </a:p>
        </p:txBody>
      </p:sp>
      <p:sp>
        <p:nvSpPr>
          <p:cNvPr id="313" name="Shape 4"/>
          <p:cNvSpPr/>
          <p:nvPr/>
        </p:nvSpPr>
        <p:spPr>
          <a:xfrm>
            <a:off x="256032" y="1426463"/>
            <a:ext cx="438912" cy="438913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Text 5"/>
          <p:cNvSpPr txBox="1"/>
          <p:nvPr/>
        </p:nvSpPr>
        <p:spPr>
          <a:xfrm>
            <a:off x="256032" y="1572005"/>
            <a:ext cx="43891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15" name="Shape 6"/>
          <p:cNvSpPr/>
          <p:nvPr/>
        </p:nvSpPr>
        <p:spPr>
          <a:xfrm>
            <a:off x="749808" y="1371600"/>
            <a:ext cx="8229601" cy="758953"/>
          </a:xfrm>
          <a:prstGeom prst="rect">
            <a:avLst/>
          </a:prstGeom>
          <a:solidFill>
            <a:srgbClr val="2D3748"/>
          </a:solidFill>
          <a:ln w="10160">
            <a:solidFill>
              <a:srgbClr val="1565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Text 7"/>
          <p:cNvSpPr txBox="1"/>
          <p:nvPr/>
        </p:nvSpPr>
        <p:spPr>
          <a:xfrm>
            <a:off x="896111" y="1476047"/>
            <a:ext cx="79552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Get a free DNS name on DuckDNS</a:t>
            </a:r>
          </a:p>
        </p:txBody>
      </p:sp>
      <p:sp>
        <p:nvSpPr>
          <p:cNvPr id="317" name="Shape 8"/>
          <p:cNvSpPr/>
          <p:nvPr/>
        </p:nvSpPr>
        <p:spPr>
          <a:xfrm>
            <a:off x="749808" y="1700783"/>
            <a:ext cx="8229601" cy="429769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Text 9"/>
          <p:cNvSpPr txBox="1"/>
          <p:nvPr/>
        </p:nvSpPr>
        <p:spPr>
          <a:xfrm>
            <a:off x="859536" y="1788667"/>
            <a:ext cx="804671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Register on duckdns.org → assign IP of host machine.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Verify: nslookup &lt;name&gt;.duckdns.org</a:t>
            </a:r>
          </a:p>
        </p:txBody>
      </p:sp>
      <p:sp>
        <p:nvSpPr>
          <p:cNvPr id="319" name="Shape 10"/>
          <p:cNvSpPr/>
          <p:nvPr/>
        </p:nvSpPr>
        <p:spPr>
          <a:xfrm>
            <a:off x="256032" y="2267711"/>
            <a:ext cx="438912" cy="438913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Text 11"/>
          <p:cNvSpPr txBox="1"/>
          <p:nvPr/>
        </p:nvSpPr>
        <p:spPr>
          <a:xfrm>
            <a:off x="256032" y="2413253"/>
            <a:ext cx="43891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21" name="Shape 12"/>
          <p:cNvSpPr/>
          <p:nvPr/>
        </p:nvSpPr>
        <p:spPr>
          <a:xfrm>
            <a:off x="749808" y="2212848"/>
            <a:ext cx="8229601" cy="758953"/>
          </a:xfrm>
          <a:prstGeom prst="rect">
            <a:avLst/>
          </a:prstGeom>
          <a:solidFill>
            <a:srgbClr val="2D3748"/>
          </a:solidFill>
          <a:ln w="10160">
            <a:solidFill>
              <a:srgbClr val="2E7D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Text 13"/>
          <p:cNvSpPr txBox="1"/>
          <p:nvPr/>
        </p:nvSpPr>
        <p:spPr>
          <a:xfrm>
            <a:off x="896111" y="2317295"/>
            <a:ext cx="79552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Port-forward host → Bob (port 444)</a:t>
            </a:r>
          </a:p>
        </p:txBody>
      </p:sp>
      <p:sp>
        <p:nvSpPr>
          <p:cNvPr id="323" name="Shape 14"/>
          <p:cNvSpPr/>
          <p:nvPr/>
        </p:nvSpPr>
        <p:spPr>
          <a:xfrm>
            <a:off x="749808" y="2542032"/>
            <a:ext cx="8229601" cy="429769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15"/>
          <p:cNvSpPr txBox="1"/>
          <p:nvPr/>
        </p:nvSpPr>
        <p:spPr>
          <a:xfrm>
            <a:off x="859536" y="2629915"/>
            <a:ext cx="804671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macOS: port 444 on host → 10.0.0.20:443 in GNS3.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Use Preferences → Network or pfctl.</a:t>
            </a:r>
          </a:p>
        </p:txBody>
      </p:sp>
      <p:sp>
        <p:nvSpPr>
          <p:cNvPr id="325" name="Shape 16"/>
          <p:cNvSpPr/>
          <p:nvPr/>
        </p:nvSpPr>
        <p:spPr>
          <a:xfrm>
            <a:off x="256032" y="3108960"/>
            <a:ext cx="438912" cy="438913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Text 17"/>
          <p:cNvSpPr txBox="1"/>
          <p:nvPr/>
        </p:nvSpPr>
        <p:spPr>
          <a:xfrm>
            <a:off x="256032" y="3254501"/>
            <a:ext cx="438912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27" name="Shape 18"/>
          <p:cNvSpPr/>
          <p:nvPr/>
        </p:nvSpPr>
        <p:spPr>
          <a:xfrm>
            <a:off x="749808" y="3054095"/>
            <a:ext cx="8229601" cy="758953"/>
          </a:xfrm>
          <a:prstGeom prst="rect">
            <a:avLst/>
          </a:prstGeom>
          <a:solidFill>
            <a:srgbClr val="2D3748"/>
          </a:solidFill>
          <a:ln w="10160">
            <a:solidFill>
              <a:srgbClr val="6A1B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19"/>
          <p:cNvSpPr txBox="1"/>
          <p:nvPr/>
        </p:nvSpPr>
        <p:spPr>
          <a:xfrm>
            <a:off x="896111" y="3158543"/>
            <a:ext cx="79552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Run certbot with DNS challenge</a:t>
            </a:r>
          </a:p>
        </p:txBody>
      </p:sp>
      <p:sp>
        <p:nvSpPr>
          <p:cNvPr id="329" name="Shape 20"/>
          <p:cNvSpPr/>
          <p:nvPr/>
        </p:nvSpPr>
        <p:spPr>
          <a:xfrm>
            <a:off x="749808" y="3383279"/>
            <a:ext cx="8229601" cy="429769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Text 21"/>
          <p:cNvSpPr txBox="1"/>
          <p:nvPr/>
        </p:nvSpPr>
        <p:spPr>
          <a:xfrm>
            <a:off x="859536" y="3407664"/>
            <a:ext cx="8046719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certbot certonly --manual --preferred-challenges dns \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-d &lt;name&gt;.duckdns.org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Add TXT record on DuckDNS. Wait → fullchain.pem + privkey.pem</a:t>
            </a:r>
          </a:p>
        </p:txBody>
      </p:sp>
      <p:sp>
        <p:nvSpPr>
          <p:cNvPr id="331" name="Shape 22"/>
          <p:cNvSpPr/>
          <p:nvPr/>
        </p:nvSpPr>
        <p:spPr>
          <a:xfrm>
            <a:off x="256032" y="3950208"/>
            <a:ext cx="438912" cy="438913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Text 23"/>
          <p:cNvSpPr txBox="1"/>
          <p:nvPr/>
        </p:nvSpPr>
        <p:spPr>
          <a:xfrm>
            <a:off x="256032" y="4095749"/>
            <a:ext cx="43891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33" name="Shape 24"/>
          <p:cNvSpPr/>
          <p:nvPr/>
        </p:nvSpPr>
        <p:spPr>
          <a:xfrm>
            <a:off x="749808" y="3895344"/>
            <a:ext cx="8229601" cy="758953"/>
          </a:xfrm>
          <a:prstGeom prst="rect">
            <a:avLst/>
          </a:prstGeom>
          <a:solidFill>
            <a:srgbClr val="2D3748"/>
          </a:solidFill>
          <a:ln w="10160">
            <a:solidFill>
              <a:srgbClr val="E651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Text 25"/>
          <p:cNvSpPr txBox="1"/>
          <p:nvPr/>
        </p:nvSpPr>
        <p:spPr>
          <a:xfrm>
            <a:off x="896111" y="3999791"/>
            <a:ext cx="79552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The 'aha' moment — no --cacert needed</a:t>
            </a:r>
          </a:p>
        </p:txBody>
      </p:sp>
      <p:sp>
        <p:nvSpPr>
          <p:cNvPr id="335" name="Shape 26"/>
          <p:cNvSpPr/>
          <p:nvPr/>
        </p:nvSpPr>
        <p:spPr>
          <a:xfrm>
            <a:off x="749808" y="4224528"/>
            <a:ext cx="8229601" cy="429769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Text 27"/>
          <p:cNvSpPr txBox="1"/>
          <p:nvPr/>
        </p:nvSpPr>
        <p:spPr>
          <a:xfrm>
            <a:off x="859536" y="4312411"/>
            <a:ext cx="804671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curl https://&lt;name&gt;.duckdns.org:444   # works!</a:t>
            </a:r>
          </a:p>
          <a:p>
            <a:pPr>
              <a:defRPr sz="800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curl --cacert ca.cert https://...       # ES02 needed this Let's Encrypt root is already trusted.</a:t>
            </a:r>
          </a:p>
        </p:txBody>
      </p:sp>
      <p:sp>
        <p:nvSpPr>
          <p:cNvPr id="337" name="Shape 28"/>
          <p:cNvSpPr/>
          <p:nvPr/>
        </p:nvSpPr>
        <p:spPr>
          <a:xfrm>
            <a:off x="256031" y="4754879"/>
            <a:ext cx="8686801" cy="320041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29"/>
          <p:cNvSpPr txBox="1"/>
          <p:nvPr/>
        </p:nvSpPr>
        <p:spPr>
          <a:xfrm>
            <a:off x="384047" y="4846827"/>
            <a:ext cx="83210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FFFFFF"/>
                </a:solidFill>
              </a:defRPr>
            </a:pPr>
            <a:r>
              <a:t>Note: </a:t>
            </a:r>
            <a:r>
              <a:rPr b="0"/>
              <a:t>CGNAT blocks inbound connections. Verify: curl -s https://api.ipify.org  vs  hostname -I. If different → works only from university network.</a:t>
            </a:r>
          </a:p>
        </p:txBody>
      </p:sp>
      <p:sp>
        <p:nvSpPr>
          <p:cNvPr id="339" name="Shape 30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A1523"/>
          </a:solidFill>
          <a:ln w="12700">
            <a:solidFill>
              <a:srgbClr val="0A152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Text 31"/>
          <p:cNvSpPr txBox="1"/>
          <p:nvPr/>
        </p:nvSpPr>
        <p:spPr>
          <a:xfrm>
            <a:off x="182879" y="4938268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8909C"/>
                </a:solidFill>
              </a:defRPr>
            </a:lvl1pPr>
          </a:lstStyle>
          <a:p>
            <a:pPr/>
            <a:r>
              <a:t>University of Calabria  ·  DeMaCS  ·  A.Y. 2025/2026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Text 1"/>
          <p:cNvSpPr txBox="1"/>
          <p:nvPr/>
        </p:nvSpPr>
        <p:spPr>
          <a:xfrm>
            <a:off x="256031" y="274964"/>
            <a:ext cx="868680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344" name="Shape 2"/>
          <p:cNvSpPr/>
          <p:nvPr/>
        </p:nvSpPr>
        <p:spPr>
          <a:xfrm>
            <a:off x="256031" y="822960"/>
            <a:ext cx="1371601" cy="50293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Shape 3"/>
          <p:cNvSpPr/>
          <p:nvPr/>
        </p:nvSpPr>
        <p:spPr>
          <a:xfrm>
            <a:off x="256031" y="987552"/>
            <a:ext cx="640082" cy="749809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Text 4"/>
          <p:cNvSpPr txBox="1"/>
          <p:nvPr/>
        </p:nvSpPr>
        <p:spPr>
          <a:xfrm>
            <a:off x="256031" y="1298955"/>
            <a:ext cx="6400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</a:t>
            </a:r>
          </a:p>
        </p:txBody>
      </p:sp>
      <p:sp>
        <p:nvSpPr>
          <p:cNvPr id="347" name="Shape 5"/>
          <p:cNvSpPr/>
          <p:nvPr/>
        </p:nvSpPr>
        <p:spPr>
          <a:xfrm>
            <a:off x="932687" y="987552"/>
            <a:ext cx="7955282" cy="749809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8" name="Text 6"/>
          <p:cNvSpPr txBox="1"/>
          <p:nvPr/>
        </p:nvSpPr>
        <p:spPr>
          <a:xfrm>
            <a:off x="1078991" y="1193345"/>
            <a:ext cx="772668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Asymmetric crypto solves the key distribution problem — two parties establish a shared secret over an untrusted network without having met before.</a:t>
            </a:r>
          </a:p>
        </p:txBody>
      </p:sp>
      <p:sp>
        <p:nvSpPr>
          <p:cNvPr id="349" name="Shape 7"/>
          <p:cNvSpPr/>
          <p:nvPr/>
        </p:nvSpPr>
        <p:spPr>
          <a:xfrm>
            <a:off x="256031" y="1956816"/>
            <a:ext cx="640082" cy="749809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Text 8"/>
          <p:cNvSpPr txBox="1"/>
          <p:nvPr/>
        </p:nvSpPr>
        <p:spPr>
          <a:xfrm>
            <a:off x="256031" y="2268220"/>
            <a:ext cx="6400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TRUST</a:t>
            </a:r>
          </a:p>
        </p:txBody>
      </p:sp>
      <p:sp>
        <p:nvSpPr>
          <p:cNvPr id="351" name="Shape 9"/>
          <p:cNvSpPr/>
          <p:nvPr/>
        </p:nvSpPr>
        <p:spPr>
          <a:xfrm>
            <a:off x="932687" y="1956816"/>
            <a:ext cx="7955282" cy="749809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Text 10"/>
          <p:cNvSpPr txBox="1"/>
          <p:nvPr/>
        </p:nvSpPr>
        <p:spPr>
          <a:xfrm>
            <a:off x="1078991" y="2162609"/>
            <a:ext cx="772668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The CA trust chain is the infrastructure behind HTTPS. A certificate is only trusted if it chains to a root CA already in your trust store.</a:t>
            </a:r>
          </a:p>
        </p:txBody>
      </p:sp>
      <p:sp>
        <p:nvSpPr>
          <p:cNvPr id="353" name="Shape 11"/>
          <p:cNvSpPr/>
          <p:nvPr/>
        </p:nvSpPr>
        <p:spPr>
          <a:xfrm>
            <a:off x="256031" y="2926079"/>
            <a:ext cx="640082" cy="749809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Text 12"/>
          <p:cNvSpPr txBox="1"/>
          <p:nvPr/>
        </p:nvSpPr>
        <p:spPr>
          <a:xfrm>
            <a:off x="256031" y="3237483"/>
            <a:ext cx="6400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TLS</a:t>
            </a:r>
          </a:p>
        </p:txBody>
      </p:sp>
      <p:sp>
        <p:nvSpPr>
          <p:cNvPr id="355" name="Shape 13"/>
          <p:cNvSpPr/>
          <p:nvPr/>
        </p:nvSpPr>
        <p:spPr>
          <a:xfrm>
            <a:off x="932687" y="2926079"/>
            <a:ext cx="7955282" cy="749809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6" name="Text 14"/>
          <p:cNvSpPr txBox="1"/>
          <p:nvPr/>
        </p:nvSpPr>
        <p:spPr>
          <a:xfrm>
            <a:off x="1078991" y="3131873"/>
            <a:ext cx="772668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TLS is a hybrid protocol: asymmetric for key exchange + authentication, symmetric (AES) for data. The private key never leaves the server.</a:t>
            </a:r>
          </a:p>
        </p:txBody>
      </p:sp>
      <p:sp>
        <p:nvSpPr>
          <p:cNvPr id="357" name="Shape 15"/>
          <p:cNvSpPr/>
          <p:nvPr/>
        </p:nvSpPr>
        <p:spPr>
          <a:xfrm>
            <a:off x="256031" y="3895344"/>
            <a:ext cx="640082" cy="749809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8" name="Text 16"/>
          <p:cNvSpPr txBox="1"/>
          <p:nvPr/>
        </p:nvSpPr>
        <p:spPr>
          <a:xfrm>
            <a:off x="256031" y="4206747"/>
            <a:ext cx="6400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MITM</a:t>
            </a:r>
          </a:p>
        </p:txBody>
      </p:sp>
      <p:sp>
        <p:nvSpPr>
          <p:cNvPr id="359" name="Shape 17"/>
          <p:cNvSpPr/>
          <p:nvPr/>
        </p:nvSpPr>
        <p:spPr>
          <a:xfrm>
            <a:off x="932687" y="3895344"/>
            <a:ext cx="7955282" cy="749809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0" name="Text 18"/>
          <p:cNvSpPr txBox="1"/>
          <p:nvPr/>
        </p:nvSpPr>
        <p:spPr>
          <a:xfrm>
            <a:off x="1078991" y="4101137"/>
            <a:ext cx="772668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Certificate validation is a trust decision. Darth's TLS proxy works perfectly — it fails only because Alice's CA bundle blocks his fake certificate.</a:t>
            </a:r>
          </a:p>
        </p:txBody>
      </p:sp>
      <p:sp>
        <p:nvSpPr>
          <p:cNvPr id="361" name="Shape 19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A1523"/>
          </a:solidFill>
          <a:ln w="12700">
            <a:solidFill>
              <a:srgbClr val="0A152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2" name="Text 20"/>
          <p:cNvSpPr txBox="1"/>
          <p:nvPr/>
        </p:nvSpPr>
        <p:spPr>
          <a:xfrm>
            <a:off x="182879" y="4938268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8909C"/>
                </a:solidFill>
              </a:defRPr>
            </a:lvl1pPr>
          </a:lstStyle>
          <a:p>
            <a:pPr/>
            <a:r>
              <a:t>University of Calabria  ·  DeMaCS  ·  A.Y. 2025/2026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5" name="Text 1"/>
          <p:cNvSpPr txBox="1"/>
          <p:nvPr/>
        </p:nvSpPr>
        <p:spPr>
          <a:xfrm>
            <a:off x="256031" y="274964"/>
            <a:ext cx="868680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What's Next</a:t>
            </a:r>
          </a:p>
        </p:txBody>
      </p:sp>
      <p:sp>
        <p:nvSpPr>
          <p:cNvPr id="366" name="Shape 2"/>
          <p:cNvSpPr/>
          <p:nvPr/>
        </p:nvSpPr>
        <p:spPr>
          <a:xfrm>
            <a:off x="256031" y="822960"/>
            <a:ext cx="1371601" cy="50293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7" name="Shape 3"/>
          <p:cNvSpPr/>
          <p:nvPr/>
        </p:nvSpPr>
        <p:spPr>
          <a:xfrm>
            <a:off x="256031" y="950975"/>
            <a:ext cx="8686801" cy="420625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Text 4"/>
          <p:cNvSpPr txBox="1"/>
          <p:nvPr/>
        </p:nvSpPr>
        <p:spPr>
          <a:xfrm>
            <a:off x="384047" y="1057464"/>
            <a:ext cx="841248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D1B2A"/>
                </a:solidFill>
              </a:defRPr>
            </a:lvl1pPr>
          </a:lstStyle>
          <a:p>
            <a:pPr/>
            <a:r>
              <a:t>Session 04  ·  Layer 2 Attacks</a:t>
            </a:r>
          </a:p>
        </p:txBody>
      </p:sp>
      <p:sp>
        <p:nvSpPr>
          <p:cNvPr id="369" name="Shape 5"/>
          <p:cNvSpPr/>
          <p:nvPr/>
        </p:nvSpPr>
        <p:spPr>
          <a:xfrm>
            <a:off x="256031" y="1463039"/>
            <a:ext cx="640082" cy="640081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0" name="Text 6"/>
          <p:cNvSpPr txBox="1"/>
          <p:nvPr/>
        </p:nvSpPr>
        <p:spPr>
          <a:xfrm>
            <a:off x="256031" y="1709165"/>
            <a:ext cx="64008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ARP</a:t>
            </a:r>
          </a:p>
        </p:txBody>
      </p:sp>
      <p:sp>
        <p:nvSpPr>
          <p:cNvPr id="371" name="Shape 7"/>
          <p:cNvSpPr/>
          <p:nvPr/>
        </p:nvSpPr>
        <p:spPr>
          <a:xfrm>
            <a:off x="932687" y="1463039"/>
            <a:ext cx="7955282" cy="640081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Text 8"/>
          <p:cNvSpPr txBox="1"/>
          <p:nvPr/>
        </p:nvSpPr>
        <p:spPr>
          <a:xfrm>
            <a:off x="1078991" y="1713791"/>
            <a:ext cx="77266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ARP spoofing — poisoning the Layer 2 address table to intercept LAN traffic</a:t>
            </a:r>
          </a:p>
        </p:txBody>
      </p:sp>
      <p:sp>
        <p:nvSpPr>
          <p:cNvPr id="373" name="Shape 9"/>
          <p:cNvSpPr/>
          <p:nvPr/>
        </p:nvSpPr>
        <p:spPr>
          <a:xfrm>
            <a:off x="256031" y="2249423"/>
            <a:ext cx="640082" cy="640081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4" name="Text 10"/>
          <p:cNvSpPr txBox="1"/>
          <p:nvPr/>
        </p:nvSpPr>
        <p:spPr>
          <a:xfrm>
            <a:off x="256031" y="2505963"/>
            <a:ext cx="6400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MITM</a:t>
            </a:r>
          </a:p>
        </p:txBody>
      </p:sp>
      <p:sp>
        <p:nvSpPr>
          <p:cNvPr id="375" name="Shape 11"/>
          <p:cNvSpPr/>
          <p:nvPr/>
        </p:nvSpPr>
        <p:spPr>
          <a:xfrm>
            <a:off x="932687" y="2249423"/>
            <a:ext cx="7955282" cy="640081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Text 12"/>
          <p:cNvSpPr txBox="1"/>
          <p:nvPr/>
        </p:nvSpPr>
        <p:spPr>
          <a:xfrm>
            <a:off x="1078991" y="2500175"/>
            <a:ext cx="77266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Network-level MITM — now Darth redirects Alice's traffic automatically, no proxy needed</a:t>
            </a:r>
          </a:p>
        </p:txBody>
      </p:sp>
      <p:sp>
        <p:nvSpPr>
          <p:cNvPr id="377" name="Shape 13"/>
          <p:cNvSpPr/>
          <p:nvPr/>
        </p:nvSpPr>
        <p:spPr>
          <a:xfrm>
            <a:off x="256031" y="3035807"/>
            <a:ext cx="640082" cy="640081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Text 14"/>
          <p:cNvSpPr txBox="1"/>
          <p:nvPr/>
        </p:nvSpPr>
        <p:spPr>
          <a:xfrm>
            <a:off x="256031" y="3292347"/>
            <a:ext cx="6400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VLAN</a:t>
            </a:r>
          </a:p>
        </p:txBody>
      </p:sp>
      <p:sp>
        <p:nvSpPr>
          <p:cNvPr id="379" name="Shape 15"/>
          <p:cNvSpPr/>
          <p:nvPr/>
        </p:nvSpPr>
        <p:spPr>
          <a:xfrm>
            <a:off x="932687" y="3035807"/>
            <a:ext cx="7955282" cy="640081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Text 16"/>
          <p:cNvSpPr txBox="1"/>
          <p:nvPr/>
        </p:nvSpPr>
        <p:spPr>
          <a:xfrm>
            <a:off x="1078991" y="3286559"/>
            <a:ext cx="77266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VLAN hopping — bypassing network segmentation via double-tagging and switch misconfiguration</a:t>
            </a:r>
          </a:p>
        </p:txBody>
      </p:sp>
      <p:sp>
        <p:nvSpPr>
          <p:cNvPr id="381" name="Shape 17"/>
          <p:cNvSpPr/>
          <p:nvPr/>
        </p:nvSpPr>
        <p:spPr>
          <a:xfrm>
            <a:off x="256031" y="3822191"/>
            <a:ext cx="640082" cy="640081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2" name="Text 18"/>
          <p:cNvSpPr txBox="1"/>
          <p:nvPr/>
        </p:nvSpPr>
        <p:spPr>
          <a:xfrm>
            <a:off x="256031" y="4068317"/>
            <a:ext cx="64008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DEF</a:t>
            </a:r>
          </a:p>
        </p:txBody>
      </p:sp>
      <p:sp>
        <p:nvSpPr>
          <p:cNvPr id="383" name="Shape 19"/>
          <p:cNvSpPr/>
          <p:nvPr/>
        </p:nvSpPr>
        <p:spPr>
          <a:xfrm>
            <a:off x="932687" y="3822191"/>
            <a:ext cx="7955282" cy="640081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 20"/>
          <p:cNvSpPr txBox="1"/>
          <p:nvPr/>
        </p:nvSpPr>
        <p:spPr>
          <a:xfrm>
            <a:off x="1078991" y="4072943"/>
            <a:ext cx="77266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Defenses: dynamic ARP inspection, port security — and why TLS (Lab 03) protects you even against ARP MITM</a:t>
            </a:r>
          </a:p>
        </p:txBody>
      </p:sp>
      <p:sp>
        <p:nvSpPr>
          <p:cNvPr id="385" name="Shape 21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A1523"/>
          </a:solidFill>
          <a:ln w="12700">
            <a:solidFill>
              <a:srgbClr val="0A152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6" name="Text 22"/>
          <p:cNvSpPr txBox="1"/>
          <p:nvPr/>
        </p:nvSpPr>
        <p:spPr>
          <a:xfrm>
            <a:off x="182879" y="4938268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8909C"/>
                </a:solidFill>
              </a:defRPr>
            </a:lvl1pPr>
          </a:lstStyle>
          <a:p>
            <a:pPr/>
            <a:r>
              <a:t>All exercises run inside the same GNS3 lab environment  ·  University of Calabria  ·  A.Y. 2025/2026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